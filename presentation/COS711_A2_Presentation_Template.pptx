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5" r:id="rId15"/>
    <p:sldId id="266" r:id="rId16"/>
    <p:sldId id="260" r:id="rId9"/>
    <p:sldId id="261" r:id="rId10"/>
    <p:sldId id="262" r:id="rId11"/>
    <p:sldId id="263" r:id="rId12"/>
    <p:sldId id="264"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hAx0WtEPEoRY45y2Sb67HmVJ/6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customschemas.google.com/relationships/presentationmetadata" Target="metadata"/><Relationship Id="rId15" Type="http://schemas.openxmlformats.org/officeDocument/2006/relationships/slide" Target="slides/slide5.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 name="Google Shape;1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Introduce the team. Clearly outline the responsibility of each team member; every member must be featured in the video.</a:t>
            </a:r>
            <a:endParaRPr/>
          </a:p>
        </p:txBody>
      </p:sp>
      <p:sp>
        <p:nvSpPr>
          <p:cNvPr id="26" name="Google Shape;2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solidFill>
                  <a:schemeClr val="dk1"/>
                </a:solidFill>
              </a:rPr>
              <a:t>Firstly going into this what did we discover firstly and how we prepared for it. The data consists of 1,154 annotated image sets covering 707 distinct observations (train), taken from six instruments (Bh, Ch, Lh, Mh, Th, Uh) between 2011 and 2022. Many observations were annotated by more than one person (1 to 3 annotation sets each) so the first goal was to ensure these annotations </a:t>
            </a:r>
            <a:r>
              <a:rPr lang="en-US">
                <a:solidFill>
                  <a:schemeClr val="dk1"/>
                </a:solidFill>
              </a:rPr>
              <a:t>were not</a:t>
            </a:r>
            <a:r>
              <a:rPr lang="en-US">
                <a:solidFill>
                  <a:schemeClr val="dk1"/>
                </a:solidFill>
              </a:rPr>
              <a:t> noisy or subjective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Step 1: Parse and group</a:t>
            </a:r>
            <a:r>
              <a:rPr b="1" lang="en-US">
                <a:solidFill>
                  <a:schemeClr val="dk1"/>
                </a:solidFill>
              </a:rPr>
              <a:t>.</a:t>
            </a:r>
            <a:r>
              <a:rPr lang="en-US">
                <a:solidFill>
                  <a:schemeClr val="dk1"/>
                </a:solidFill>
              </a:rPr>
              <a:t> The COCO JSON is loaded and each file name is parsed into a 14-digit timestamp plus a 2-letter instrument code (Bh, Ch, Lh, Mh, Th, Uh). Images are matched to files on disk, and all four annotation categories are merged into a single “filament” class. Images are then grouped into </a:t>
            </a:r>
            <a:r>
              <a:rPr i="1" lang="en-US">
                <a:solidFill>
                  <a:schemeClr val="dk1"/>
                </a:solidFill>
              </a:rPr>
              <a:t>observations</a:t>
            </a:r>
            <a:r>
              <a:rPr lang="en-US">
                <a:solidFill>
                  <a:schemeClr val="dk1"/>
                </a:solidFill>
              </a:rPr>
              <a:t> (timestamp + instrument). Annotation cleaning is also done here where polygons with too few points are dropped, coordinates are clipped to 2048x2048 frame and tiny or duplicate polygons are removed</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Cleaning found the labels largely sound: of 8,199 polygons, only one was removed (tiny), with no duplicates or degenerate shapes. The geometry analysis showed that filaments are thin: median mean-width is about 11 px and median spine length about 111 px. Fewer than 0.5% have mean width under 4 px, which is the key finding that guided the resolution decision. The test set spans the same date range as training (2011-2022), so no temporal extrapolation is required.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Step 2: Observations are assigned to train or validation in 7-day blocks, targeting about 15% validation per instrument. The split is 600 train and 107 validation observations the use of a 7-day blocks rather than random images </a:t>
            </a:r>
            <a:r>
              <a:rPr lang="en-US">
                <a:solidFill>
                  <a:schemeClr val="dk1"/>
                </a:solidFill>
              </a:rPr>
              <a:t>prevented</a:t>
            </a:r>
            <a:r>
              <a:rPr lang="en-US">
                <a:solidFill>
                  <a:schemeClr val="dk1"/>
                </a:solidFill>
              </a:rPr>
              <a:t> near-duplicate consecutive observations from leaking between train and validation. Blocks are chosen randomly (seed 1) while balancing per instrument, so each of the six instruments is represented in validation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Step 3: Each polygon is rasterised and its area, spine length, mean width and maximum width are measured, to decide whether downsampling would destroy thin structures.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spcBef>
                <a:spcPts val="0"/>
              </a:spcBef>
              <a:spcAft>
                <a:spcPts val="0"/>
              </a:spcAft>
              <a:buSzPts val="1100"/>
              <a:buNone/>
            </a:pPr>
            <a:r>
              <a:rPr lang="en-US">
                <a:solidFill>
                  <a:schemeClr val="dk1"/>
                </a:solidFill>
              </a:rPr>
              <a:t>We</a:t>
            </a:r>
            <a:r>
              <a:rPr lang="en-US">
                <a:solidFill>
                  <a:schemeClr val="dk1"/>
                </a:solidFill>
              </a:rPr>
              <a:t> worked at full 2048×2048 resolution (scale 1.0) rather than downsampling, since the width statistics show that shrinking would erase thin filaments</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Step 4: Normalisation, The solar disk is found by Otsu thresholding on a 512×512 copy, followed by a least-squares circle fit to the largest blob’s contour. Pixel intensities are clipped to the 1st-99th percentile </a:t>
            </a:r>
            <a:r>
              <a:rPr i="1" lang="en-US">
                <a:solidFill>
                  <a:schemeClr val="dk1"/>
                </a:solidFill>
              </a:rPr>
              <a:t>inside the disk</a:t>
            </a:r>
            <a:r>
              <a:rPr lang="en-US">
                <a:solidFill>
                  <a:schemeClr val="dk1"/>
                </a:solidFill>
              </a:rPr>
              <a:t> and rescaled to [0, 1]. Everything outside the disk is set to 0.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The only scaling is intensity normalisation: the solar disk is fitted with a circle, and percentile clipping (1-99%) is computed only from pixels inside the disk, so the background does not skew the contrast. This yielded consistent normalised statistics (mean about 0.61-0.69, std about 0.17-0.20) across instruments. Off-disk pixels are zeroed. Training uses 512×512 crops for memory efficiency, while validation uses full images.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Step 5: For every annotation set the notebook produces an instance map, plus a 5-channel target: foreground, boundary, contact (touching instances), a normalised distance transform, and the spine. The per-observation image, disk mask and a “soft” foreground are cached to disk. Augmentation is also done here which is </a:t>
            </a:r>
            <a:r>
              <a:rPr lang="en-US">
                <a:solidFill>
                  <a:schemeClr val="dk1"/>
                </a:solidFill>
              </a:rPr>
              <a:t>deliberately</a:t>
            </a:r>
            <a:r>
              <a:rPr lang="en-US">
                <a:solidFill>
                  <a:schemeClr val="dk1"/>
                </a:solidFill>
              </a:rPr>
              <a:t> light. random 90° rotations and random horizontal flips, applied identically to the image, targets and weight map. Rotation and flips are valid because the Sun has no canonical orientation in these crops. In addition, random crop placement acts as spatial augmentation, with a ±128 px jitter around the chosen filament centre. Some final cleaning was also done before parsing the data to the neural network where a z-score flags unusual observations per instrument, and 11 observations, all from Bh, failed the disk fit and fall back to a default centred circle. A limb weight map linearly down-weights pixels from 90% to 100% of the solar radius (to 0.3) and zeroes everything off the disk.</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As shown in the image a final sanity check generates a figure for one training sample (cropped to 512 x 512) showing the input image next to the boundary which is used to teach the NN where object edges are, next to that is the normalised distance transform where each pixels value is its distance from the nearest edge divided by the maximum for that filament. Finally the per pixel loss weight map is shown </a:t>
            </a:r>
            <a:r>
              <a:rPr lang="en-US">
                <a:solidFill>
                  <a:schemeClr val="dk1"/>
                </a:solidFill>
              </a:rPr>
              <a:t>which</a:t>
            </a:r>
            <a:r>
              <a:rPr lang="en-US">
                <a:solidFill>
                  <a:schemeClr val="dk1"/>
                </a:solidFill>
              </a:rPr>
              <a:t> is a multiplier applied to the loss at each pixel during training. Yellow is the interior of the disk, green to teal is the </a:t>
            </a:r>
            <a:r>
              <a:rPr lang="en-US">
                <a:solidFill>
                  <a:schemeClr val="dk1"/>
                </a:solidFill>
              </a:rPr>
              <a:t>region</a:t>
            </a:r>
            <a:r>
              <a:rPr lang="en-US">
                <a:solidFill>
                  <a:schemeClr val="dk1"/>
                </a:solidFill>
              </a:rPr>
              <a:t> between 90% and 100% of the solar </a:t>
            </a:r>
            <a:r>
              <a:rPr lang="en-US">
                <a:solidFill>
                  <a:schemeClr val="dk1"/>
                </a:solidFill>
              </a:rPr>
              <a:t>radius, dark blue is everything outside the disk.</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
        <p:nvSpPr>
          <p:cNvPr id="32" name="Google Shape;3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I was responsible for the experimental setup and methodology. We used PyTorch with mixed precision, and segmentation-models-pytorch for a pretrained encoder, and trained on Kaggle's free T4 GPUs. Every run saves a checkpoint each epoch, so it survives Kaggle's 12-hour session limit.</a:t>
            </a:r>
          </a:p>
          <a:p/>
          <a:p>
            <a:r>
              <a:t>The competition is scored with Panoptic Quality, where splitting or merging filaments costs as much as missing one. So we treated this as bottom-up instance segmentation: one U-Net predicts the five maps Sean built. That's the filament mask, plus boundary, contact, distance and spine maps that help separate filaments and keep them whole. The thin, rare maps get extra weight in the loss.</a:t>
            </a:r>
          </a:p>
        </p:txBody>
      </p:sp>
      <p:sp>
        <p:nvSpPr>
          <p:cNvPr id="40" name="Google Shape;4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 name="Google Shape;4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 name="Google Shape;6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compared a U-Net trained from scratch with one using an ImageNet-pretrained ResNet-34 encoder. The pretrained one scored about 0.017 PQ higher and trained one and a half times faster, so we kept it. It trains on 768-pixel crops with AdamW, a short warm-up and cosine decay, in about an hour per run.</a:t>
            </a:r>
          </a:p>
          <a:p/>
          <a:p>
            <a:r>
              <a:t>We validate on the full disk against every annotator, using Sean's date-blocked split. We keep the checkpoint with the best validation PQ rather than the lowest loss, because the loss doesn't penalise splits and merges.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tuned greedily: architecture first, then learning rate, then labels and crop size, then longer training. Then we ran the whole search a second time. Each dot is one run, blue for the first round and gold for the second.</a:t>
            </a:r>
          </a:p>
          <a:p/>
          <a:p>
            <a:r>
              <a:t>That showed runs of the same setup differ by about 0.007 PQ. The extra outputs, larger crops, the pretrained encoder and longer training held up in both rounds. Soft labels didn't, so we dropped them. Even larger crops and 80 epochs stayed inside the noise at nearly three times the cost, so we stopped there.</a:t>
            </a:r>
          </a:p>
          <a:p/>
          <a:p>
            <a:r>
              <a:t>The final model scores 0.377 plus or minus 0.006 over six runs, trains in about an hour and takes 0.4 seconds per image. Its main errors, false positives and fragmented filaments, are what the enhancement section tackles next.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 name="Shape 6"/>
        <p:cNvGrpSpPr/>
        <p:nvPr/>
      </p:nvGrpSpPr>
      <p:grpSpPr>
        <a:xfrm>
          <a:off x="0" y="0"/>
          <a:ext cx="0" cy="0"/>
          <a:chOff x="0" y="0"/>
          <a:chExt cx="0" cy="0"/>
        </a:xfrm>
      </p:grpSpPr>
      <p:sp>
        <p:nvSpPr>
          <p:cNvPr id="7" name="Google Shape;7;p10"/>
          <p:cNvSpPr/>
          <p:nvPr/>
        </p:nvSpPr>
        <p:spPr>
          <a:xfrm>
            <a:off x="-7620" y="-7144"/>
            <a:ext cx="12207240" cy="343662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 name="Shape 8"/>
        <p:cNvGrpSpPr/>
        <p:nvPr/>
      </p:nvGrpSpPr>
      <p:grpSpPr>
        <a:xfrm>
          <a:off x="0" y="0"/>
          <a:ext cx="0" cy="0"/>
          <a:chOff x="0" y="0"/>
          <a:chExt cx="0" cy="0"/>
        </a:xfrm>
      </p:grpSpPr>
      <p:sp>
        <p:nvSpPr>
          <p:cNvPr id="9" name="Google Shape;9;p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2"/>
              </a:buClr>
              <a:buSzPts val="3600"/>
              <a:buFont typeface="Arial"/>
              <a:buNone/>
              <a:defRPr b="1" i="0" sz="36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descr="Graphical user interface, text&#10;&#10;Description automatically generated" id="11" name="Google Shape;11;p9"/>
          <p:cNvPicPr preferRelativeResize="0"/>
          <p:nvPr/>
        </p:nvPicPr>
        <p:blipFill rotWithShape="1">
          <a:blip r:embed="rId2">
            <a:alphaModFix/>
          </a:blip>
          <a:srcRect b="0" l="0" r="0" t="0"/>
          <a:stretch/>
        </p:blipFill>
        <p:spPr>
          <a:xfrm>
            <a:off x="8704276" y="5057992"/>
            <a:ext cx="3495344" cy="182204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2" name="Shape 12"/>
        <p:cNvGrpSpPr/>
        <p:nvPr/>
      </p:nvGrpSpPr>
      <p:grpSpPr>
        <a:xfrm>
          <a:off x="0" y="0"/>
          <a:ext cx="0" cy="0"/>
          <a:chOff x="0" y="0"/>
          <a:chExt cx="0" cy="0"/>
        </a:xfrm>
      </p:grpSpPr>
      <p:sp>
        <p:nvSpPr>
          <p:cNvPr id="13" name="Google Shape;13;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12"/>
          <p:cNvSpPr txBox="1"/>
          <p:nvPr>
            <p:ph idx="2" type="body"/>
          </p:nvPr>
        </p:nvSpPr>
        <p:spPr>
          <a:xfrm>
            <a:off x="6172200" y="1825625"/>
            <a:ext cx="5181600" cy="299502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 name="Google Shape;15;p1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2"/>
              </a:buClr>
              <a:buSzPts val="3600"/>
              <a:buFont typeface="Arial"/>
              <a:buNone/>
              <a:defRPr b="1" i="0" sz="36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descr="Graphical user interface, text&#10;&#10;Description automatically generated" id="16" name="Google Shape;16;p12"/>
          <p:cNvPicPr preferRelativeResize="0"/>
          <p:nvPr/>
        </p:nvPicPr>
        <p:blipFill rotWithShape="1">
          <a:blip r:embed="rId2">
            <a:alphaModFix/>
          </a:blip>
          <a:srcRect b="0" l="0" r="0" t="0"/>
          <a:stretch/>
        </p:blipFill>
        <p:spPr>
          <a:xfrm>
            <a:off x="8704276" y="5057992"/>
            <a:ext cx="3495344" cy="182204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3"/>
          <p:cNvSpPr/>
          <p:nvPr/>
        </p:nvSpPr>
        <p:spPr>
          <a:xfrm>
            <a:off x="-7620" y="3429000"/>
            <a:ext cx="12207240" cy="3437546"/>
          </a:xfrm>
          <a:prstGeom prst="rect">
            <a:avLst/>
          </a:prstGeom>
          <a:blipFill rotWithShape="1">
            <a:blip r:embed="rId3">
              <a:alphaModFix/>
            </a:blip>
            <a:stretch>
              <a:fillRect b="-15843" l="0" r="0" t="-15843"/>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 name="Google Shape;22;p3"/>
          <p:cNvSpPr txBox="1"/>
          <p:nvPr/>
        </p:nvSpPr>
        <p:spPr>
          <a:xfrm>
            <a:off x="0" y="865188"/>
            <a:ext cx="12192000" cy="1949450"/>
          </a:xfrm>
          <a:prstGeom prst="rect">
            <a:avLst/>
          </a:prstGeom>
          <a:noFill/>
          <a:ln>
            <a:noFill/>
          </a:ln>
        </p:spPr>
        <p:txBody>
          <a:bodyPr anchorCtr="0" anchor="t" bIns="45700" lIns="91425" spcFirstLastPara="1" rIns="91425" wrap="square" tIns="45700">
            <a:normAutofit fontScale="92500" lnSpcReduction="20000"/>
          </a:bodyPr>
          <a:lstStyle/>
          <a:p>
            <a:pPr indent="0" lvl="0" marL="0" marR="0" rtl="0" algn="ctr">
              <a:lnSpc>
                <a:spcPct val="90000"/>
              </a:lnSpc>
              <a:spcBef>
                <a:spcPts val="0"/>
              </a:spcBef>
              <a:spcAft>
                <a:spcPts val="0"/>
              </a:spcAft>
              <a:buNone/>
            </a:pPr>
            <a:r>
              <a:rPr b="1" i="0" lang="en-US" sz="3600" u="none" cap="none" strike="noStrike">
                <a:solidFill>
                  <a:schemeClr val="lt1"/>
                </a:solidFill>
                <a:latin typeface="Arial"/>
                <a:ea typeface="Arial"/>
                <a:cs typeface="Arial"/>
                <a:sym typeface="Arial"/>
              </a:rPr>
              <a:t>COS711 Assignment 3</a:t>
            </a:r>
            <a:br>
              <a:rPr b="1" i="0" lang="en-US" sz="3600" u="none" cap="none" strike="noStrike">
                <a:solidFill>
                  <a:srgbClr val="000000"/>
                </a:solidFill>
                <a:latin typeface="Arial"/>
                <a:ea typeface="Arial"/>
                <a:cs typeface="Arial"/>
                <a:sym typeface="Arial"/>
              </a:rPr>
            </a:br>
            <a:r>
              <a:rPr b="0" i="0" lang="en-US" sz="2800" u="none" cap="none" strike="noStrike">
                <a:solidFill>
                  <a:schemeClr val="lt1"/>
                </a:solidFill>
                <a:latin typeface="Arial"/>
                <a:ea typeface="Arial"/>
                <a:cs typeface="Arial"/>
                <a:sym typeface="Arial"/>
              </a:rPr>
              <a:t>Segmenting solar filaments with deep learning</a:t>
            </a:r>
            <a:br>
              <a:rPr b="1" i="0" lang="en-US" sz="3600" u="none" cap="none" strike="noStrike">
                <a:solidFill>
                  <a:schemeClr val="lt2"/>
                </a:solidFill>
                <a:latin typeface="Arial"/>
                <a:ea typeface="Arial"/>
                <a:cs typeface="Arial"/>
                <a:sym typeface="Arial"/>
              </a:rPr>
            </a:br>
            <a:br>
              <a:rPr b="1" i="0" lang="en-US" sz="3600" u="none" cap="none" strike="noStrike">
                <a:solidFill>
                  <a:schemeClr val="lt2"/>
                </a:solidFill>
                <a:latin typeface="Arial"/>
                <a:ea typeface="Arial"/>
                <a:cs typeface="Arial"/>
                <a:sym typeface="Arial"/>
              </a:rPr>
            </a:br>
            <a:r>
              <a:rPr lang="en-US" sz="2400">
                <a:solidFill>
                  <a:schemeClr val="lt1"/>
                </a:solidFill>
              </a:rPr>
              <a:t>Sean Maritz - u23592274</a:t>
            </a:r>
            <a:endParaRPr sz="2400">
              <a:solidFill>
                <a:schemeClr val="lt1"/>
              </a:solidFill>
            </a:endParaRPr>
          </a:p>
          <a:p>
            <a:pPr indent="0" lvl="0" marL="0" marR="0" rtl="0" algn="ctr">
              <a:lnSpc>
                <a:spcPct val="90000"/>
              </a:lnSpc>
              <a:spcBef>
                <a:spcPts val="0"/>
              </a:spcBef>
              <a:spcAft>
                <a:spcPts val="0"/>
              </a:spcAft>
              <a:buNone/>
            </a:pPr>
            <a:r>
              <a:rPr lang="en-US" sz="2400">
                <a:solidFill>
                  <a:schemeClr val="lt1"/>
                </a:solidFill>
              </a:rPr>
              <a:t>[Team member names and student numbers]</a:t>
            </a:r>
            <a:endParaRPr sz="2400">
              <a:solidFill>
                <a:schemeClr val="lt1"/>
              </a:solidFill>
            </a:endParaRPr>
          </a:p>
          <a:p>
            <a:pPr indent="0" lvl="0" marL="0" marR="0" rtl="0" algn="ctr">
              <a:lnSpc>
                <a:spcPct val="90000"/>
              </a:lnSpc>
              <a:spcBef>
                <a:spcPts val="0"/>
              </a:spcBef>
              <a:spcAft>
                <a:spcPts val="0"/>
              </a:spcAft>
              <a:buNone/>
            </a:pPr>
            <a:r>
              <a:t/>
            </a:r>
            <a:endParaRPr b="1" i="0" sz="3600" u="none" cap="none" strike="noStrike">
              <a:solidFill>
                <a:schemeClr val="lt2"/>
              </a:solidFill>
              <a:latin typeface="Arial"/>
              <a:ea typeface="Arial"/>
              <a:cs typeface="Arial"/>
              <a:sym typeface="Arial"/>
            </a:endParaRPr>
          </a:p>
        </p:txBody>
      </p:sp>
      <p:pic>
        <p:nvPicPr>
          <p:cNvPr descr="Graphical user interface, text&#10;&#10;Description automatically generated" id="23" name="Google Shape;23;p3"/>
          <p:cNvPicPr preferRelativeResize="0"/>
          <p:nvPr/>
        </p:nvPicPr>
        <p:blipFill rotWithShape="1">
          <a:blip r:embed="rId4">
            <a:alphaModFix/>
          </a:blip>
          <a:srcRect b="0" l="0" r="0" t="0"/>
          <a:stretch/>
        </p:blipFill>
        <p:spPr>
          <a:xfrm>
            <a:off x="8704276" y="5057992"/>
            <a:ext cx="3495344" cy="18220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1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Team and Responsibilities</a:t>
            </a:r>
            <a:endParaRPr/>
          </a:p>
        </p:txBody>
      </p:sp>
      <p:sp>
        <p:nvSpPr>
          <p:cNvPr id="29" name="Google Shape;2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1000"/>
              </a:spcBef>
              <a:spcAft>
                <a:spcPts val="0"/>
              </a:spcAft>
              <a:buClr>
                <a:schemeClr val="accent2"/>
              </a:buClr>
              <a:buSzPts val="2400"/>
              <a:buFont typeface="Arial"/>
              <a:buChar char="•"/>
            </a:pPr>
            <a:r>
              <a:rPr lang="en-US"/>
              <a:t>Sean Maritz (u23592274): Dataset Preparation</a:t>
            </a:r>
            <a:endParaRPr/>
          </a:p>
          <a:p>
            <a:pPr indent="-342900" lvl="0" marL="342900" rtl="0" algn="l">
              <a:lnSpc>
                <a:spcPct val="90000"/>
              </a:lnSpc>
              <a:spcBef>
                <a:spcPts val="1000"/>
              </a:spcBef>
              <a:spcAft>
                <a:spcPts val="0"/>
              </a:spcAft>
              <a:buClr>
                <a:schemeClr val="accent2"/>
              </a:buClr>
              <a:buSzPts val="2400"/>
              <a:buFont typeface="Arial"/>
              <a:buChar char="•"/>
            </a:pPr>
            <a:r>
              <a:rPr lang="en-US"/>
              <a:t>Name Surname (student number): responsibility</a:t>
            </a:r>
            <a:endParaRPr/>
          </a:p>
          <a:p>
            <a:pPr indent="-342900" lvl="0" marL="342900" rtl="0" algn="l">
              <a:lnSpc>
                <a:spcPct val="90000"/>
              </a:lnSpc>
              <a:spcBef>
                <a:spcPts val="1000"/>
              </a:spcBef>
              <a:spcAft>
                <a:spcPts val="0"/>
              </a:spcAft>
              <a:buClr>
                <a:schemeClr val="accent2"/>
              </a:buClr>
              <a:buSzPts val="2400"/>
              <a:buFont typeface="Arial"/>
              <a:buChar char="•"/>
            </a:pPr>
            <a:r>
              <a:rPr lang="en-US"/>
              <a:t>Name Surname (student number): responsibility (delete if not needed)</a:t>
            </a:r>
            <a:endParaRPr/>
          </a:p>
          <a:p>
            <a:pPr indent="-190500" lvl="0" marL="342900" rtl="0" algn="l">
              <a:lnSpc>
                <a:spcPct val="90000"/>
              </a:lnSpc>
              <a:spcBef>
                <a:spcPts val="1000"/>
              </a:spcBef>
              <a:spcAft>
                <a:spcPts val="0"/>
              </a:spcAft>
              <a:buClr>
                <a:schemeClr val="accent2"/>
              </a:buClr>
              <a:buSzPts val="2400"/>
              <a:buFont typeface="Arial"/>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Dataset Preparation</a:t>
            </a:r>
            <a:endParaRPr/>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2400"/>
              <a:buNone/>
            </a:pPr>
            <a:r>
              <a:rPr lang="en-US"/>
              <a:t>What did you discover about the data, and how did you prepare it?</a:t>
            </a:r>
            <a:endParaRPr/>
          </a:p>
          <a:p>
            <a:pPr indent="-342900" lvl="0" marL="342900" rtl="0" algn="l">
              <a:lnSpc>
                <a:spcPct val="90000"/>
              </a:lnSpc>
              <a:spcBef>
                <a:spcPts val="1000"/>
              </a:spcBef>
              <a:spcAft>
                <a:spcPts val="0"/>
              </a:spcAft>
              <a:buClr>
                <a:schemeClr val="accent2"/>
              </a:buClr>
              <a:buSzPts val="2400"/>
              <a:buFont typeface="Arial"/>
              <a:buChar char="•"/>
            </a:pPr>
            <a:r>
              <a:rPr lang="en-US"/>
              <a:t>Preprocessing and scaling (e.g. resolution, normalisation)</a:t>
            </a:r>
            <a:endParaRPr/>
          </a:p>
          <a:p>
            <a:pPr indent="-342900" lvl="0" marL="342900" rtl="0" algn="l">
              <a:lnSpc>
                <a:spcPct val="90000"/>
              </a:lnSpc>
              <a:spcBef>
                <a:spcPts val="1000"/>
              </a:spcBef>
              <a:spcAft>
                <a:spcPts val="0"/>
              </a:spcAft>
              <a:buClr>
                <a:schemeClr val="accent2"/>
              </a:buClr>
              <a:buSzPts val="2400"/>
              <a:buFont typeface="Arial"/>
              <a:buChar char="•"/>
            </a:pPr>
            <a:r>
              <a:rPr lang="en-US"/>
              <a:t>Augmentation</a:t>
            </a:r>
            <a:endParaRPr/>
          </a:p>
          <a:p>
            <a:pPr indent="-342900" lvl="0" marL="342900" rtl="0" algn="l">
              <a:lnSpc>
                <a:spcPct val="90000"/>
              </a:lnSpc>
              <a:spcBef>
                <a:spcPts val="1000"/>
              </a:spcBef>
              <a:spcAft>
                <a:spcPts val="0"/>
              </a:spcAft>
              <a:buClr>
                <a:schemeClr val="accent2"/>
              </a:buClr>
              <a:buSzPts val="2400"/>
              <a:buFont typeface="Arial"/>
              <a:buChar char="•"/>
            </a:pPr>
            <a:r>
              <a:rPr lang="en-US"/>
              <a:t>Noisy samples and class imbalance</a:t>
            </a:r>
            <a:endParaRPr/>
          </a:p>
          <a:p>
            <a:pPr indent="-342900" lvl="0" marL="342900" rtl="0" algn="l">
              <a:lnSpc>
                <a:spcPct val="90000"/>
              </a:lnSpc>
              <a:spcBef>
                <a:spcPts val="1000"/>
              </a:spcBef>
              <a:spcAft>
                <a:spcPts val="0"/>
              </a:spcAft>
              <a:buClr>
                <a:schemeClr val="accent2"/>
              </a:buClr>
              <a:buSzPts val="2400"/>
              <a:buFont typeface="Arial"/>
              <a:buChar char="•"/>
            </a:pPr>
            <a:r>
              <a:rPr lang="en-US"/>
              <a:t>Training / validation split</a:t>
            </a:r>
            <a:endParaRPr/>
          </a:p>
          <a:p>
            <a:pPr indent="-190500" lvl="0" marL="342900" rtl="0" algn="l">
              <a:lnSpc>
                <a:spcPct val="90000"/>
              </a:lnSpc>
              <a:spcBef>
                <a:spcPts val="1000"/>
              </a:spcBef>
              <a:spcAft>
                <a:spcPts val="0"/>
              </a:spcAft>
              <a:buClr>
                <a:schemeClr val="accent2"/>
              </a:buClr>
              <a:buSzPts val="2400"/>
              <a:buFont typeface="Arial"/>
              <a:buNone/>
            </a:pPr>
            <a:r>
              <a:t/>
            </a:r>
            <a:endParaRPr/>
          </a:p>
        </p:txBody>
      </p:sp>
      <p:sp>
        <p:nvSpPr>
          <p:cNvPr id="36" name="Google Shape;36;p5"/>
          <p:cNvSpPr txBox="1"/>
          <p:nvPr>
            <p:ph idx="2" type="body"/>
          </p:nvPr>
        </p:nvSpPr>
        <p:spPr>
          <a:xfrm>
            <a:off x="6172200" y="1825625"/>
            <a:ext cx="5181600" cy="2995028"/>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90000"/>
              </a:lnSpc>
              <a:spcBef>
                <a:spcPts val="1000"/>
              </a:spcBef>
              <a:spcAft>
                <a:spcPts val="0"/>
              </a:spcAft>
              <a:buClr>
                <a:schemeClr val="dk2"/>
              </a:buClr>
              <a:buSzPts val="2400"/>
              <a:buFont typeface="Arial"/>
              <a:buNone/>
            </a:pPr>
            <a:r>
              <a:rPr lang="en-US" sz="2800"/>
              <a:t>Step 1: Parse and Group</a:t>
            </a:r>
            <a:endParaRPr sz="2800"/>
          </a:p>
          <a:p>
            <a:pPr indent="-228600" lvl="0" marL="457200" marR="0" rtl="0" algn="l">
              <a:lnSpc>
                <a:spcPct val="90000"/>
              </a:lnSpc>
              <a:spcBef>
                <a:spcPts val="1000"/>
              </a:spcBef>
              <a:spcAft>
                <a:spcPts val="0"/>
              </a:spcAft>
              <a:buClr>
                <a:schemeClr val="dk2"/>
              </a:buClr>
              <a:buSzPts val="2400"/>
              <a:buFont typeface="Arial"/>
              <a:buNone/>
            </a:pPr>
            <a:r>
              <a:rPr lang="en-US" sz="2800"/>
              <a:t>Step 2: Split</a:t>
            </a:r>
            <a:endParaRPr sz="2800"/>
          </a:p>
          <a:p>
            <a:pPr indent="-228600" lvl="0" marL="457200" marR="0" rtl="0" algn="l">
              <a:lnSpc>
                <a:spcPct val="90000"/>
              </a:lnSpc>
              <a:spcBef>
                <a:spcPts val="1000"/>
              </a:spcBef>
              <a:spcAft>
                <a:spcPts val="0"/>
              </a:spcAft>
              <a:buClr>
                <a:schemeClr val="dk2"/>
              </a:buClr>
              <a:buSzPts val="2400"/>
              <a:buFont typeface="Arial"/>
              <a:buNone/>
            </a:pPr>
            <a:r>
              <a:rPr lang="en-US" sz="2800"/>
              <a:t>Step 3: Geometry check</a:t>
            </a:r>
            <a:endParaRPr sz="2800"/>
          </a:p>
          <a:p>
            <a:pPr indent="-228600" lvl="0" marL="457200" marR="0" rtl="0" algn="l">
              <a:lnSpc>
                <a:spcPct val="90000"/>
              </a:lnSpc>
              <a:spcBef>
                <a:spcPts val="1000"/>
              </a:spcBef>
              <a:spcAft>
                <a:spcPts val="0"/>
              </a:spcAft>
              <a:buClr>
                <a:schemeClr val="dk2"/>
              </a:buClr>
              <a:buSzPts val="2400"/>
              <a:buFont typeface="Arial"/>
              <a:buNone/>
            </a:pPr>
            <a:r>
              <a:rPr lang="en-US" sz="2800"/>
              <a:t>Step 4: Normalisation</a:t>
            </a:r>
            <a:endParaRPr sz="2800"/>
          </a:p>
          <a:p>
            <a:pPr indent="-228600" lvl="0" marL="457200" marR="0" rtl="0" algn="l">
              <a:lnSpc>
                <a:spcPct val="90000"/>
              </a:lnSpc>
              <a:spcBef>
                <a:spcPts val="1000"/>
              </a:spcBef>
              <a:spcAft>
                <a:spcPts val="0"/>
              </a:spcAft>
              <a:buClr>
                <a:schemeClr val="dk2"/>
              </a:buClr>
              <a:buSzPts val="2400"/>
              <a:buFont typeface="Arial"/>
              <a:buNone/>
            </a:pPr>
            <a:r>
              <a:rPr lang="en-US" sz="2800"/>
              <a:t>Step 5: Build targets</a:t>
            </a:r>
            <a:endParaRPr sz="2800"/>
          </a:p>
        </p:txBody>
      </p:sp>
      <p:pic>
        <p:nvPicPr>
          <p:cNvPr id="37" name="Google Shape;37;p5"/>
          <p:cNvPicPr preferRelativeResize="0"/>
          <p:nvPr/>
        </p:nvPicPr>
        <p:blipFill>
          <a:blip r:embed="rId3">
            <a:alphaModFix/>
          </a:blip>
          <a:stretch>
            <a:fillRect/>
          </a:stretch>
        </p:blipFill>
        <p:spPr>
          <a:xfrm>
            <a:off x="838200" y="5125275"/>
            <a:ext cx="6662676" cy="1608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Experimental Setup and Methodology</a:t>
            </a:r>
            <a:endParaRPr/>
          </a:p>
        </p:txBody>
      </p:sp>
      <p:sp>
        <p:nvSpPr>
          <p:cNvPr id="43" name="TextBox 42"/>
          <p:cNvSpPr txBox="1"/>
          <p:nvPr/>
        </p:nvSpPr>
        <p:spPr>
          <a:xfrm>
            <a:off x="841248" y="1417320"/>
            <a:ext cx="4160520" cy="411480"/>
          </a:xfrm>
          <a:prstGeom prst="rect">
            <a:avLst/>
          </a:prstGeom>
          <a:solidFill>
            <a:srgbClr val="005BAA"/>
          </a:solidFill>
        </p:spPr>
        <p:txBody>
          <a:bodyPr wrap="square" anchor="ctr" lIns="109728" rIns="109728" tIns="109728" bIns="109728">
            <a:spAutoFit/>
          </a:bodyPr>
          <a:lstStyle/>
          <a:p>
            <a:pPr>
              <a:spcBef>
                <a:spcPts val="0"/>
              </a:spcBef>
            </a:pPr>
            <a:r>
              <a:rPr sz="1800" b="1">
                <a:solidFill>
                  <a:srgbClr val="FFFFFF"/>
                </a:solidFill>
              </a:rPr>
              <a:t>Tools and compute</a:t>
            </a:r>
          </a:p>
        </p:txBody>
      </p:sp>
      <p:sp>
        <p:nvSpPr>
          <p:cNvPr id="44" name="TextBox 43"/>
          <p:cNvSpPr txBox="1"/>
          <p:nvPr/>
        </p:nvSpPr>
        <p:spPr>
          <a:xfrm>
            <a:off x="841248" y="1920240"/>
            <a:ext cx="4160520" cy="4206240"/>
          </a:xfrm>
          <a:prstGeom prst="rect">
            <a:avLst/>
          </a:prstGeom>
          <a:noFill/>
        </p:spPr>
        <p:txBody>
          <a:bodyPr wrap="square" anchor="t" lIns="73152" rIns="73152" tIns="73152" bIns="73152">
            <a:spAutoFit/>
          </a:bodyPr>
          <a:lstStyle/>
          <a:p>
            <a:pPr marL="201168" indent="-201168">
              <a:spcBef>
                <a:spcPts val="0"/>
              </a:spcBef>
              <a:buChar char="•"/>
            </a:pPr>
            <a:r>
              <a:rPr sz="1600" b="1">
                <a:solidFill>
                  <a:srgbClr val="000000"/>
                </a:solidFill>
              </a:rPr>
              <a:t>Python 3, PyTorch 2</a:t>
            </a:r>
            <a:r>
              <a:rPr sz="1600" b="0">
                <a:solidFill>
                  <a:srgbClr val="000000"/>
                </a:solidFill>
              </a:rPr>
              <a:t>: mixed precision (fp16), AdamW</a:t>
            </a:r>
          </a:p>
          <a:p>
            <a:pPr marL="201168" indent="-201168">
              <a:spcBef>
                <a:spcPts val="600"/>
              </a:spcBef>
              <a:buChar char="•"/>
            </a:pPr>
            <a:r>
              <a:rPr sz="1600" b="1">
                <a:solidFill>
                  <a:srgbClr val="000000"/>
                </a:solidFill>
              </a:rPr>
              <a:t>segmentation-models-pytorch</a:t>
            </a:r>
            <a:r>
              <a:rPr sz="1600" b="0">
                <a:solidFill>
                  <a:srgbClr val="000000"/>
                </a:solidFill>
              </a:rPr>
              <a:t>: ImageNet ResNet-34 encoder</a:t>
            </a:r>
          </a:p>
          <a:p>
            <a:pPr marL="201168" indent="-201168">
              <a:spcBef>
                <a:spcPts val="600"/>
              </a:spcBef>
              <a:buChar char="•"/>
            </a:pPr>
            <a:r>
              <a:rPr sz="1600" b="1">
                <a:solidFill>
                  <a:srgbClr val="000000"/>
                </a:solidFill>
              </a:rPr>
              <a:t>OpenCV, pycocotools</a:t>
            </a:r>
            <a:r>
              <a:rPr sz="1600" b="0">
                <a:solidFill>
                  <a:srgbClr val="000000"/>
                </a:solidFill>
              </a:rPr>
              <a:t>: masks and connected components</a:t>
            </a:r>
          </a:p>
          <a:p>
            <a:pPr marL="201168" indent="-201168">
              <a:spcBef>
                <a:spcPts val="600"/>
              </a:spcBef>
              <a:buChar char="•"/>
            </a:pPr>
            <a:r>
              <a:rPr sz="1600" b="1">
                <a:solidFill>
                  <a:srgbClr val="000000"/>
                </a:solidFill>
              </a:rPr>
              <a:t>Kaggle T4 GPU</a:t>
            </a:r>
            <a:r>
              <a:rPr sz="1600" b="0">
                <a:solidFill>
                  <a:srgbClr val="000000"/>
                </a:solidFill>
              </a:rPr>
              <a:t> (16 GB): ~30 free GPU-hours a week</a:t>
            </a:r>
          </a:p>
          <a:p>
            <a:pPr marL="201168" indent="-201168">
              <a:spcBef>
                <a:spcPts val="600"/>
              </a:spcBef>
              <a:buChar char="•"/>
            </a:pPr>
            <a:r>
              <a:rPr sz="1600" b="0">
                <a:solidFill>
                  <a:srgbClr val="000000"/>
                </a:solidFill>
              </a:rPr>
              <a:t>Checkpoint every epoch, resume across Kaggle's 12-hour sessions</a:t>
            </a:r>
          </a:p>
          <a:p>
            <a:pPr marL="201168" indent="-201168">
              <a:spcBef>
                <a:spcPts val="600"/>
              </a:spcBef>
              <a:buChar char="•"/>
            </a:pPr>
            <a:r>
              <a:rPr sz="1600" b="1">
                <a:solidFill>
                  <a:srgbClr val="000000"/>
                </a:solidFill>
              </a:rPr>
              <a:t>GitHub</a:t>
            </a:r>
            <a:r>
              <a:rPr sz="1600" b="0">
                <a:solidFill>
                  <a:srgbClr val="000000"/>
                </a:solidFill>
              </a:rPr>
              <a:t>: one notebook per stage, shared </a:t>
            </a:r>
            <a:r>
              <a:rPr sz="1600" b="1">
                <a:solidFill>
                  <a:srgbClr val="000000"/>
                </a:solidFill>
              </a:rPr>
              <a:t>src/</a:t>
            </a:r>
            <a:r>
              <a:rPr sz="1600" b="0">
                <a:solidFill>
                  <a:srgbClr val="000000"/>
                </a:solidFill>
              </a:rPr>
              <a:t> package</a:t>
            </a:r>
          </a:p>
        </p:txBody>
      </p:sp>
      <p:sp>
        <p:nvSpPr>
          <p:cNvPr id="45" name="TextBox 44"/>
          <p:cNvSpPr txBox="1"/>
          <p:nvPr/>
        </p:nvSpPr>
        <p:spPr>
          <a:xfrm>
            <a:off x="5349240" y="1417320"/>
            <a:ext cx="6007608" cy="411480"/>
          </a:xfrm>
          <a:prstGeom prst="rect">
            <a:avLst/>
          </a:prstGeom>
          <a:solidFill>
            <a:srgbClr val="005BAA"/>
          </a:solidFill>
        </p:spPr>
        <p:txBody>
          <a:bodyPr wrap="square" anchor="ctr" lIns="109728" rIns="109728" tIns="109728" bIns="109728">
            <a:spAutoFit/>
          </a:bodyPr>
          <a:lstStyle/>
          <a:p>
            <a:pPr>
              <a:spcBef>
                <a:spcPts val="0"/>
              </a:spcBef>
            </a:pPr>
            <a:r>
              <a:rPr sz="1800" b="1">
                <a:solidFill>
                  <a:srgbClr val="FFFFFF"/>
                </a:solidFill>
              </a:rPr>
              <a:t>Problem formulation</a:t>
            </a:r>
          </a:p>
        </p:txBody>
      </p:sp>
      <p:sp>
        <p:nvSpPr>
          <p:cNvPr id="46" name="TextBox 45"/>
          <p:cNvSpPr txBox="1"/>
          <p:nvPr/>
        </p:nvSpPr>
        <p:spPr>
          <a:xfrm>
            <a:off x="5349240" y="1920240"/>
            <a:ext cx="6007608" cy="1188720"/>
          </a:xfrm>
          <a:prstGeom prst="rect">
            <a:avLst/>
          </a:prstGeom>
          <a:noFill/>
        </p:spPr>
        <p:txBody>
          <a:bodyPr wrap="square" anchor="t" lIns="73152" rIns="73152" tIns="73152" bIns="73152">
            <a:spAutoFit/>
          </a:bodyPr>
          <a:lstStyle/>
          <a:p>
            <a:pPr>
              <a:spcBef>
                <a:spcPts val="0"/>
              </a:spcBef>
            </a:pPr>
            <a:r>
              <a:rPr sz="1600" b="0">
                <a:solidFill>
                  <a:srgbClr val="000000"/>
                </a:solidFill>
              </a:rPr>
              <a:t>Scored by </a:t>
            </a:r>
            <a:r>
              <a:rPr sz="1600" b="1">
                <a:solidFill>
                  <a:srgbClr val="000000"/>
                </a:solidFill>
              </a:rPr>
              <a:t>Panoptic Quality</a:t>
            </a:r>
            <a:r>
              <a:rPr sz="1600" b="0">
                <a:solidFill>
                  <a:srgbClr val="000000"/>
                </a:solidFill>
              </a:rPr>
              <a:t> (PQ = SQ × RQ): a split or merged filament counts as an error, like a miss.</a:t>
            </a:r>
          </a:p>
          <a:p>
            <a:pPr>
              <a:spcBef>
                <a:spcPts val="600"/>
              </a:spcBef>
            </a:pPr>
            <a:r>
              <a:rPr sz="1600" b="0">
                <a:solidFill>
                  <a:srgbClr val="000000"/>
                </a:solidFill>
              </a:rPr>
              <a:t>So: </a:t>
            </a:r>
            <a:r>
              <a:rPr sz="1600" b="1">
                <a:solidFill>
                  <a:srgbClr val="000000"/>
                </a:solidFill>
              </a:rPr>
              <a:t>bottom-up instance segmentation</a:t>
            </a:r>
            <a:r>
              <a:rPr sz="1600" b="0">
                <a:solidFill>
                  <a:srgbClr val="000000"/>
                </a:solidFill>
              </a:rPr>
              <a:t>. One U-Net predicts five maps; instances are grouped afterwards.</a:t>
            </a:r>
          </a:p>
        </p:txBody>
      </p:sp>
      <p:graphicFrame>
        <p:nvGraphicFramePr>
          <p:cNvPr id="47" name="Table 46"/>
          <p:cNvGraphicFramePr>
            <a:graphicFrameLocks noGrp="1"/>
          </p:cNvGraphicFramePr>
          <p:nvPr/>
        </p:nvGraphicFramePr>
        <p:xfrm>
          <a:off x="5349240" y="3246120"/>
          <a:ext cx="6007608" cy="1975104"/>
        </p:xfrm>
        <a:graphic>
          <a:graphicData uri="http://schemas.openxmlformats.org/drawingml/2006/table">
            <a:tbl>
              <a:tblPr firstRow="1" bandRow="1">
                <a:tableStyleId>{5C22544A-7EE6-4342-B048-85BDC9FD1C3A}</a:tableStyleId>
              </a:tblPr>
              <a:tblGrid>
                <a:gridCol w="2011680"/>
                <a:gridCol w="1783080"/>
                <a:gridCol w="2212848"/>
              </a:tblGrid>
              <a:tr h="329184">
                <a:tc>
                  <a:txBody>
                    <a:bodyPr/>
                    <a:lstStyle/>
                    <a:p>
                      <a:r>
                        <a:rPr sz="1400" b="1">
                          <a:solidFill>
                            <a:srgbClr val="FFFFFF"/>
                          </a:solidFill>
                        </a:rPr>
                        <a:t>Output map</a:t>
                      </a:r>
                    </a:p>
                  </a:txBody>
                  <a:tcPr marL="73152" marR="73152" marT="27432" marB="27432" anchor="ctr">
                    <a:solidFill>
                      <a:srgbClr val="005BAA"/>
                    </a:solidFill>
                  </a:tcPr>
                </a:tc>
                <a:tc>
                  <a:txBody>
                    <a:bodyPr/>
                    <a:lstStyle/>
                    <a:p>
                      <a:r>
                        <a:rPr sz="1400" b="1">
                          <a:solidFill>
                            <a:srgbClr val="FFFFFF"/>
                          </a:solidFill>
                        </a:rPr>
                        <a:t>Loss</a:t>
                      </a:r>
                    </a:p>
                  </a:txBody>
                  <a:tcPr marL="73152" marR="73152" marT="27432" marB="27432" anchor="ctr">
                    <a:solidFill>
                      <a:srgbClr val="005BAA"/>
                    </a:solidFill>
                  </a:tcPr>
                </a:tc>
                <a:tc>
                  <a:txBody>
                    <a:bodyPr/>
                    <a:lstStyle/>
                    <a:p>
                      <a:r>
                        <a:rPr sz="1400" b="1">
                          <a:solidFill>
                            <a:srgbClr val="FFFFFF"/>
                          </a:solidFill>
                        </a:rPr>
                        <a:t>Purpose</a:t>
                      </a:r>
                    </a:p>
                  </a:txBody>
                  <a:tcPr marL="73152" marR="73152" marT="27432" marB="27432" anchor="ctr">
                    <a:solidFill>
                      <a:srgbClr val="005BAA"/>
                    </a:solidFill>
                  </a:tcPr>
                </a:tc>
              </a:tr>
              <a:tr h="329184">
                <a:tc>
                  <a:txBody>
                    <a:bodyPr/>
                    <a:lstStyle/>
                    <a:p>
                      <a:r>
                        <a:rPr sz="1400" b="0">
                          <a:solidFill>
                            <a:srgbClr val="000000"/>
                          </a:solidFill>
                        </a:rPr>
                        <a:t>Filament mask</a:t>
                      </a:r>
                    </a:p>
                  </a:txBody>
                  <a:tcPr marL="73152" marR="73152" marT="27432" marB="27432" anchor="ctr">
                    <a:solidFill>
                      <a:srgbClr val="FFFFFF"/>
                    </a:solidFill>
                  </a:tcPr>
                </a:tc>
                <a:tc>
                  <a:txBody>
                    <a:bodyPr/>
                    <a:lstStyle/>
                    <a:p>
                      <a:r>
                        <a:rPr sz="1400" b="0">
                          <a:solidFill>
                            <a:srgbClr val="000000"/>
                          </a:solidFill>
                        </a:rPr>
                        <a:t>BCE + Dice</a:t>
                      </a:r>
                    </a:p>
                  </a:txBody>
                  <a:tcPr marL="73152" marR="73152" marT="27432" marB="27432" anchor="ctr">
                    <a:solidFill>
                      <a:srgbClr val="FFFFFF"/>
                    </a:solidFill>
                  </a:tcPr>
                </a:tc>
                <a:tc>
                  <a:txBody>
                    <a:bodyPr/>
                    <a:lstStyle/>
                    <a:p>
                      <a:r>
                        <a:rPr sz="1400" b="0">
                          <a:solidFill>
                            <a:srgbClr val="000000"/>
                          </a:solidFill>
                        </a:rPr>
                        <a:t>which pixels</a:t>
                      </a:r>
                    </a:p>
                  </a:txBody>
                  <a:tcPr marL="73152" marR="73152" marT="27432" marB="27432" anchor="ctr">
                    <a:solidFill>
                      <a:srgbClr val="FFFFFF"/>
                    </a:solidFill>
                  </a:tcPr>
                </a:tc>
              </a:tr>
              <a:tr h="329184">
                <a:tc>
                  <a:txBody>
                    <a:bodyPr/>
                    <a:lstStyle/>
                    <a:p>
                      <a:r>
                        <a:rPr sz="1400" b="0">
                          <a:solidFill>
                            <a:srgbClr val="000000"/>
                          </a:solidFill>
                        </a:rPr>
                        <a:t>Instance boundary</a:t>
                      </a:r>
                    </a:p>
                  </a:txBody>
                  <a:tcPr marL="73152" marR="73152" marT="27432" marB="27432" anchor="ctr">
                    <a:solidFill>
                      <a:srgbClr val="EAF1F8"/>
                    </a:solidFill>
                  </a:tcPr>
                </a:tc>
                <a:tc>
                  <a:txBody>
                    <a:bodyPr/>
                    <a:lstStyle/>
                    <a:p>
                      <a:r>
                        <a:rPr sz="1400" b="0">
                          <a:solidFill>
                            <a:srgbClr val="000000"/>
                          </a:solidFill>
                        </a:rPr>
                        <a:t>BCE ×3 + Dice</a:t>
                      </a:r>
                    </a:p>
                  </a:txBody>
                  <a:tcPr marL="73152" marR="73152" marT="27432" marB="27432" anchor="ctr">
                    <a:solidFill>
                      <a:srgbClr val="EAF1F8"/>
                    </a:solidFill>
                  </a:tcPr>
                </a:tc>
                <a:tc>
                  <a:txBody>
                    <a:bodyPr/>
                    <a:lstStyle/>
                    <a:p>
                      <a:r>
                        <a:rPr sz="1400" b="0">
                          <a:solidFill>
                            <a:srgbClr val="000000"/>
                          </a:solidFill>
                        </a:rPr>
                        <a:t>separate neighbours</a:t>
                      </a:r>
                    </a:p>
                  </a:txBody>
                  <a:tcPr marL="73152" marR="73152" marT="27432" marB="27432" anchor="ctr">
                    <a:solidFill>
                      <a:srgbClr val="EAF1F8"/>
                    </a:solidFill>
                  </a:tcPr>
                </a:tc>
              </a:tr>
              <a:tr h="329184">
                <a:tc>
                  <a:txBody>
                    <a:bodyPr/>
                    <a:lstStyle/>
                    <a:p>
                      <a:r>
                        <a:rPr sz="1400" b="0">
                          <a:solidFill>
                            <a:srgbClr val="000000"/>
                          </a:solidFill>
                        </a:rPr>
                        <a:t>Contact</a:t>
                      </a:r>
                    </a:p>
                  </a:txBody>
                  <a:tcPr marL="73152" marR="73152" marT="27432" marB="27432" anchor="ctr">
                    <a:solidFill>
                      <a:srgbClr val="FFFFFF"/>
                    </a:solidFill>
                  </a:tcPr>
                </a:tc>
                <a:tc>
                  <a:txBody>
                    <a:bodyPr/>
                    <a:lstStyle/>
                    <a:p>
                      <a:r>
                        <a:rPr sz="1400" b="0">
                          <a:solidFill>
                            <a:srgbClr val="000000"/>
                          </a:solidFill>
                        </a:rPr>
                        <a:t>BCE ×10 + Dice</a:t>
                      </a:r>
                    </a:p>
                  </a:txBody>
                  <a:tcPr marL="73152" marR="73152" marT="27432" marB="27432" anchor="ctr">
                    <a:solidFill>
                      <a:srgbClr val="FFFFFF"/>
                    </a:solidFill>
                  </a:tcPr>
                </a:tc>
                <a:tc>
                  <a:txBody>
                    <a:bodyPr/>
                    <a:lstStyle/>
                    <a:p>
                      <a:r>
                        <a:rPr sz="1400" b="0">
                          <a:solidFill>
                            <a:srgbClr val="000000"/>
                          </a:solidFill>
                        </a:rPr>
                        <a:t>cut merged ones</a:t>
                      </a:r>
                    </a:p>
                  </a:txBody>
                  <a:tcPr marL="73152" marR="73152" marT="27432" marB="27432" anchor="ctr">
                    <a:solidFill>
                      <a:srgbClr val="FFFFFF"/>
                    </a:solidFill>
                  </a:tcPr>
                </a:tc>
              </a:tr>
              <a:tr h="329184">
                <a:tc>
                  <a:txBody>
                    <a:bodyPr/>
                    <a:lstStyle/>
                    <a:p>
                      <a:r>
                        <a:rPr sz="1400" b="0">
                          <a:solidFill>
                            <a:srgbClr val="000000"/>
                          </a:solidFill>
                        </a:rPr>
                        <a:t>Distance to edge</a:t>
                      </a:r>
                    </a:p>
                  </a:txBody>
                  <a:tcPr marL="73152" marR="73152" marT="27432" marB="27432" anchor="ctr">
                    <a:solidFill>
                      <a:srgbClr val="EAF1F8"/>
                    </a:solidFill>
                  </a:tcPr>
                </a:tc>
                <a:tc>
                  <a:txBody>
                    <a:bodyPr/>
                    <a:lstStyle/>
                    <a:p>
                      <a:r>
                        <a:rPr sz="1400" b="0">
                          <a:solidFill>
                            <a:srgbClr val="000000"/>
                          </a:solidFill>
                        </a:rPr>
                        <a:t>MSE</a:t>
                      </a:r>
                    </a:p>
                  </a:txBody>
                  <a:tcPr marL="73152" marR="73152" marT="27432" marB="27432" anchor="ctr">
                    <a:solidFill>
                      <a:srgbClr val="EAF1F8"/>
                    </a:solidFill>
                  </a:tcPr>
                </a:tc>
                <a:tc>
                  <a:txBody>
                    <a:bodyPr/>
                    <a:lstStyle/>
                    <a:p>
                      <a:r>
                        <a:rPr sz="1400" b="0">
                          <a:solidFill>
                            <a:srgbClr val="000000"/>
                          </a:solidFill>
                        </a:rPr>
                        <a:t>instance centres</a:t>
                      </a:r>
                    </a:p>
                  </a:txBody>
                  <a:tcPr marL="73152" marR="73152" marT="27432" marB="27432" anchor="ctr">
                    <a:solidFill>
                      <a:srgbClr val="EAF1F8"/>
                    </a:solidFill>
                  </a:tcPr>
                </a:tc>
              </a:tr>
              <a:tr h="329184">
                <a:tc>
                  <a:txBody>
                    <a:bodyPr/>
                    <a:lstStyle/>
                    <a:p>
                      <a:r>
                        <a:rPr sz="1400" b="0">
                          <a:solidFill>
                            <a:srgbClr val="000000"/>
                          </a:solidFill>
                        </a:rPr>
                        <a:t>Spine</a:t>
                      </a:r>
                    </a:p>
                  </a:txBody>
                  <a:tcPr marL="73152" marR="73152" marT="27432" marB="27432" anchor="ctr">
                    <a:solidFill>
                      <a:srgbClr val="FFFFFF"/>
                    </a:solidFill>
                  </a:tcPr>
                </a:tc>
                <a:tc>
                  <a:txBody>
                    <a:bodyPr/>
                    <a:lstStyle/>
                    <a:p>
                      <a:r>
                        <a:rPr sz="1400" b="0">
                          <a:solidFill>
                            <a:srgbClr val="000000"/>
                          </a:solidFill>
                        </a:rPr>
                        <a:t>BCE ×3 + Dice</a:t>
                      </a:r>
                    </a:p>
                  </a:txBody>
                  <a:tcPr marL="73152" marR="73152" marT="27432" marB="27432" anchor="ctr">
                    <a:solidFill>
                      <a:srgbClr val="FFFFFF"/>
                    </a:solidFill>
                  </a:tcPr>
                </a:tc>
                <a:tc>
                  <a:txBody>
                    <a:bodyPr/>
                    <a:lstStyle/>
                    <a:p>
                      <a:r>
                        <a:rPr sz="1400" b="0">
                          <a:solidFill>
                            <a:srgbClr val="000000"/>
                          </a:solidFill>
                        </a:rPr>
                        <a:t>keep thin ones whole</a:t>
                      </a:r>
                    </a:p>
                  </a:txBody>
                  <a:tcPr marL="73152" marR="73152" marT="27432" marB="27432"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 Training and Evaluation</a:t>
            </a:r>
          </a:p>
        </p:txBody>
      </p:sp>
      <p:sp>
        <p:nvSpPr>
          <p:cNvPr id="3" name="TextBox 2"/>
          <p:cNvSpPr txBox="1"/>
          <p:nvPr/>
        </p:nvSpPr>
        <p:spPr>
          <a:xfrm>
            <a:off x="841248" y="1417320"/>
            <a:ext cx="3355848" cy="411480"/>
          </a:xfrm>
          <a:prstGeom prst="rect">
            <a:avLst/>
          </a:prstGeom>
          <a:solidFill>
            <a:srgbClr val="005BAA"/>
          </a:solidFill>
        </p:spPr>
        <p:txBody>
          <a:bodyPr wrap="square" anchor="ctr" lIns="109728" rIns="109728" tIns="109728" bIns="109728">
            <a:spAutoFit/>
          </a:bodyPr>
          <a:lstStyle/>
          <a:p>
            <a:pPr>
              <a:spcBef>
                <a:spcPts val="0"/>
              </a:spcBef>
            </a:pPr>
            <a:r>
              <a:rPr sz="1800" b="1">
                <a:solidFill>
                  <a:srgbClr val="FFFFFF"/>
                </a:solidFill>
              </a:rPr>
              <a:t>Two U-Nets compared</a:t>
            </a:r>
          </a:p>
        </p:txBody>
      </p:sp>
      <p:sp>
        <p:nvSpPr>
          <p:cNvPr id="4" name="TextBox 3"/>
          <p:cNvSpPr txBox="1"/>
          <p:nvPr/>
        </p:nvSpPr>
        <p:spPr>
          <a:xfrm>
            <a:off x="841248" y="1920240"/>
            <a:ext cx="3355848" cy="4297680"/>
          </a:xfrm>
          <a:prstGeom prst="rect">
            <a:avLst/>
          </a:prstGeom>
          <a:noFill/>
        </p:spPr>
        <p:txBody>
          <a:bodyPr wrap="square" anchor="t" lIns="73152" rIns="73152" tIns="73152" bIns="73152">
            <a:spAutoFit/>
          </a:bodyPr>
          <a:lstStyle/>
          <a:p>
            <a:pPr>
              <a:spcBef>
                <a:spcPts val="0"/>
              </a:spcBef>
            </a:pPr>
            <a:r>
              <a:rPr sz="1600" b="1">
                <a:solidFill>
                  <a:srgbClr val="005BAA"/>
                </a:solidFill>
              </a:rPr>
              <a:t>From scratch</a:t>
            </a:r>
          </a:p>
          <a:p>
            <a:pPr marL="201168" indent="-201168">
              <a:spcBef>
                <a:spcPts val="300"/>
              </a:spcBef>
              <a:buChar char="•"/>
            </a:pPr>
            <a:r>
              <a:rPr sz="1500" b="0">
                <a:solidFill>
                  <a:srgbClr val="000000"/>
                </a:solidFill>
              </a:rPr>
              <a:t>6 levels, 32 → 512 channels, BatchNorm</a:t>
            </a:r>
          </a:p>
          <a:p>
            <a:pPr marL="201168" indent="-201168">
              <a:spcBef>
                <a:spcPts val="700"/>
              </a:spcBef>
              <a:buChar char="•"/>
            </a:pPr>
            <a:r>
              <a:rPr sz="1500" b="0">
                <a:solidFill>
                  <a:srgbClr val="000000"/>
                </a:solidFill>
              </a:rPr>
              <a:t>20.6 M parameters</a:t>
            </a:r>
          </a:p>
          <a:p>
            <a:pPr>
              <a:spcBef>
                <a:spcPts val="1400"/>
              </a:spcBef>
            </a:pPr>
            <a:r>
              <a:rPr sz="1600" b="1">
                <a:solidFill>
                  <a:srgbClr val="005BAA"/>
                </a:solidFill>
              </a:rPr>
              <a:t>ImageNet ResNet-34 encoder</a:t>
            </a:r>
          </a:p>
          <a:p>
            <a:pPr marL="201168" indent="-201168">
              <a:spcBef>
                <a:spcPts val="300"/>
              </a:spcBef>
              <a:buChar char="•"/>
            </a:pPr>
            <a:r>
              <a:rPr sz="1500" b="0">
                <a:solidFill>
                  <a:srgbClr val="000000"/>
                </a:solidFill>
              </a:rPr>
              <a:t>RGB filters summed to 1 channel</a:t>
            </a:r>
          </a:p>
          <a:p>
            <a:pPr marL="201168" indent="-201168">
              <a:spcBef>
                <a:spcPts val="700"/>
              </a:spcBef>
              <a:buChar char="•"/>
            </a:pPr>
            <a:r>
              <a:rPr sz="1500" b="0">
                <a:solidFill>
                  <a:srgbClr val="000000"/>
                </a:solidFill>
              </a:rPr>
              <a:t>24.4 M parameters</a:t>
            </a:r>
          </a:p>
          <a:p>
            <a:pPr marL="201168" indent="-201168">
              <a:spcBef>
                <a:spcPts val="700"/>
              </a:spcBef>
              <a:buChar char="•"/>
            </a:pPr>
            <a:r>
              <a:rPr sz="1500" b="1">
                <a:solidFill>
                  <a:srgbClr val="000000"/>
                </a:solidFill>
              </a:rPr>
              <a:t>Kept</a:t>
            </a:r>
            <a:r>
              <a:rPr sz="1500" b="0">
                <a:solidFill>
                  <a:srgbClr val="000000"/>
                </a:solidFill>
              </a:rPr>
              <a:t>: +0.017 PQ and 1.5× faster</a:t>
            </a:r>
          </a:p>
          <a:p>
            <a:pPr>
              <a:spcBef>
                <a:spcPts val="1400"/>
              </a:spcBef>
            </a:pPr>
            <a:r>
              <a:rPr sz="1300" b="0">
                <a:solidFill>
                  <a:srgbClr val="5C5C61"/>
                </a:solidFill>
              </a:rPr>
              <a:t>Both: output bias starts at p = 0.01, since under 1% of pixels are filament</a:t>
            </a:r>
          </a:p>
        </p:txBody>
      </p:sp>
      <p:sp>
        <p:nvSpPr>
          <p:cNvPr id="5" name="TextBox 4"/>
          <p:cNvSpPr txBox="1"/>
          <p:nvPr/>
        </p:nvSpPr>
        <p:spPr>
          <a:xfrm>
            <a:off x="4421124" y="1417320"/>
            <a:ext cx="3355848" cy="411480"/>
          </a:xfrm>
          <a:prstGeom prst="rect">
            <a:avLst/>
          </a:prstGeom>
          <a:solidFill>
            <a:srgbClr val="005BAA"/>
          </a:solidFill>
        </p:spPr>
        <p:txBody>
          <a:bodyPr wrap="square" anchor="ctr" lIns="109728" rIns="109728" tIns="109728" bIns="109728">
            <a:spAutoFit/>
          </a:bodyPr>
          <a:lstStyle/>
          <a:p>
            <a:pPr>
              <a:spcBef>
                <a:spcPts val="0"/>
              </a:spcBef>
            </a:pPr>
            <a:r>
              <a:rPr sz="1800" b="1">
                <a:solidFill>
                  <a:srgbClr val="FFFFFF"/>
                </a:solidFill>
              </a:rPr>
              <a:t>Training</a:t>
            </a:r>
          </a:p>
        </p:txBody>
      </p:sp>
      <p:sp>
        <p:nvSpPr>
          <p:cNvPr id="6" name="TextBox 5"/>
          <p:cNvSpPr txBox="1"/>
          <p:nvPr/>
        </p:nvSpPr>
        <p:spPr>
          <a:xfrm>
            <a:off x="4421124" y="1920240"/>
            <a:ext cx="3355848" cy="4297680"/>
          </a:xfrm>
          <a:prstGeom prst="rect">
            <a:avLst/>
          </a:prstGeom>
          <a:noFill/>
        </p:spPr>
        <p:txBody>
          <a:bodyPr wrap="square" anchor="t" lIns="73152" rIns="73152" tIns="73152" bIns="73152">
            <a:spAutoFit/>
          </a:bodyPr>
          <a:lstStyle/>
          <a:p>
            <a:pPr marL="201168" indent="-201168">
              <a:spcBef>
                <a:spcPts val="0"/>
              </a:spcBef>
              <a:buChar char="•"/>
            </a:pPr>
            <a:r>
              <a:rPr sz="1500" b="1">
                <a:solidFill>
                  <a:srgbClr val="000000"/>
                </a:solidFill>
              </a:rPr>
              <a:t>768 × 768 crops</a:t>
            </a:r>
            <a:r>
              <a:rPr sz="1500" b="0">
                <a:solidFill>
                  <a:srgbClr val="000000"/>
                </a:solidFill>
              </a:rPr>
              <a:t>, batch 4 (crop size tuned: 512 → 768)</a:t>
            </a:r>
          </a:p>
          <a:p>
            <a:pPr marL="201168" indent="-201168">
              <a:spcBef>
                <a:spcPts val="700"/>
              </a:spcBef>
              <a:buChar char="•"/>
            </a:pPr>
            <a:r>
              <a:rPr sz="1500" b="1">
                <a:solidFill>
                  <a:srgbClr val="000000"/>
                </a:solidFill>
              </a:rPr>
              <a:t>AdamW</a:t>
            </a:r>
            <a:r>
              <a:rPr sz="1500" b="0">
                <a:solidFill>
                  <a:srgbClr val="000000"/>
                </a:solidFill>
              </a:rPr>
              <a:t>, lr 3e-4 (tuned), weight decay 1e-4</a:t>
            </a:r>
          </a:p>
          <a:p>
            <a:pPr marL="201168" indent="-201168">
              <a:spcBef>
                <a:spcPts val="700"/>
              </a:spcBef>
              <a:buChar char="•"/>
            </a:pPr>
            <a:r>
              <a:rPr sz="1500" b="0">
                <a:solidFill>
                  <a:srgbClr val="000000"/>
                </a:solidFill>
              </a:rPr>
              <a:t>1-epoch warm-up, then </a:t>
            </a:r>
            <a:r>
              <a:rPr sz="1500" b="1">
                <a:solidFill>
                  <a:srgbClr val="000000"/>
                </a:solidFill>
              </a:rPr>
              <a:t>cosine decay</a:t>
            </a:r>
            <a:r>
              <a:rPr sz="1500" b="0">
                <a:solidFill>
                  <a:srgbClr val="000000"/>
                </a:solidFill>
              </a:rPr>
              <a:t> over 50 epochs</a:t>
            </a:r>
          </a:p>
          <a:p>
            <a:pPr marL="201168" indent="-201168">
              <a:spcBef>
                <a:spcPts val="700"/>
              </a:spcBef>
              <a:buChar char="•"/>
            </a:pPr>
            <a:r>
              <a:rPr sz="1500" b="0">
                <a:solidFill>
                  <a:srgbClr val="000000"/>
                </a:solidFill>
              </a:rPr>
              <a:t>fp16 mixed precision, gradient clipping at 1</a:t>
            </a:r>
          </a:p>
          <a:p>
            <a:pPr marL="201168" indent="-201168">
              <a:spcBef>
                <a:spcPts val="700"/>
              </a:spcBef>
              <a:buChar char="•"/>
            </a:pPr>
            <a:r>
              <a:rPr sz="1500" b="0">
                <a:solidFill>
                  <a:srgbClr val="000000"/>
                </a:solidFill>
              </a:rPr>
              <a:t>~1 hour per run on a T4</a:t>
            </a:r>
          </a:p>
          <a:p>
            <a:pPr>
              <a:spcBef>
                <a:spcPts val="1400"/>
              </a:spcBef>
            </a:pPr>
            <a:r>
              <a:rPr sz="1300" b="0">
                <a:solidFill>
                  <a:srgbClr val="5C5C61"/>
                </a:solidFill>
              </a:rPr>
              <a:t>Crop sampling, augmentation and loss weights as in Dataset Preparation</a:t>
            </a:r>
          </a:p>
        </p:txBody>
      </p:sp>
      <p:sp>
        <p:nvSpPr>
          <p:cNvPr id="7" name="TextBox 6"/>
          <p:cNvSpPr txBox="1"/>
          <p:nvPr/>
        </p:nvSpPr>
        <p:spPr>
          <a:xfrm>
            <a:off x="8001000" y="1417320"/>
            <a:ext cx="3355848" cy="411480"/>
          </a:xfrm>
          <a:prstGeom prst="rect">
            <a:avLst/>
          </a:prstGeom>
          <a:solidFill>
            <a:srgbClr val="005BAA"/>
          </a:solidFill>
        </p:spPr>
        <p:txBody>
          <a:bodyPr wrap="square" anchor="ctr" lIns="109728" rIns="109728" tIns="109728" bIns="109728">
            <a:spAutoFit/>
          </a:bodyPr>
          <a:lstStyle/>
          <a:p>
            <a:pPr>
              <a:spcBef>
                <a:spcPts val="0"/>
              </a:spcBef>
            </a:pPr>
            <a:r>
              <a:rPr sz="1800" b="1">
                <a:solidFill>
                  <a:srgbClr val="FFFFFF"/>
                </a:solidFill>
              </a:rPr>
              <a:t>Evaluation</a:t>
            </a:r>
          </a:p>
        </p:txBody>
      </p:sp>
      <p:sp>
        <p:nvSpPr>
          <p:cNvPr id="8" name="TextBox 7"/>
          <p:cNvSpPr txBox="1"/>
          <p:nvPr/>
        </p:nvSpPr>
        <p:spPr>
          <a:xfrm>
            <a:off x="8001000" y="1920240"/>
            <a:ext cx="3355848" cy="4297680"/>
          </a:xfrm>
          <a:prstGeom prst="rect">
            <a:avLst/>
          </a:prstGeom>
          <a:noFill/>
        </p:spPr>
        <p:txBody>
          <a:bodyPr wrap="square" anchor="t" lIns="73152" rIns="73152" tIns="73152" bIns="73152">
            <a:spAutoFit/>
          </a:bodyPr>
          <a:lstStyle/>
          <a:p>
            <a:pPr marL="201168" indent="-201168">
              <a:spcBef>
                <a:spcPts val="0"/>
              </a:spcBef>
              <a:buChar char="•"/>
            </a:pPr>
            <a:r>
              <a:rPr sz="1500" b="0">
                <a:solidFill>
                  <a:srgbClr val="000000"/>
                </a:solidFill>
              </a:rPr>
              <a:t>Date-blocked split: </a:t>
            </a:r>
            <a:r>
              <a:rPr sz="1500" b="1">
                <a:solidFill>
                  <a:srgbClr val="000000"/>
                </a:solidFill>
              </a:rPr>
              <a:t>600 / 107</a:t>
            </a:r>
            <a:r>
              <a:rPr sz="1500" b="0">
                <a:solidFill>
                  <a:srgbClr val="000000"/>
                </a:solidFill>
              </a:rPr>
              <a:t> observations</a:t>
            </a:r>
          </a:p>
          <a:p>
            <a:pPr marL="201168" indent="-201168">
              <a:spcBef>
                <a:spcPts val="700"/>
              </a:spcBef>
              <a:buChar char="•"/>
            </a:pPr>
            <a:r>
              <a:rPr sz="1500" b="0">
                <a:solidFill>
                  <a:srgbClr val="000000"/>
                </a:solidFill>
              </a:rPr>
              <a:t>Validate on the </a:t>
            </a:r>
            <a:r>
              <a:rPr sz="1500" b="1">
                <a:solidFill>
                  <a:srgbClr val="000000"/>
                </a:solidFill>
              </a:rPr>
              <a:t>full 2048² disk</a:t>
            </a:r>
            <a:r>
              <a:rPr sz="1500" b="0">
                <a:solidFill>
                  <a:srgbClr val="000000"/>
                </a:solidFill>
              </a:rPr>
              <a:t>, against </a:t>
            </a:r>
            <a:r>
              <a:rPr sz="1500" b="1">
                <a:solidFill>
                  <a:srgbClr val="000000"/>
                </a:solidFill>
              </a:rPr>
              <a:t>every annotator</a:t>
            </a:r>
          </a:p>
          <a:p>
            <a:pPr marL="201168" indent="-201168">
              <a:spcBef>
                <a:spcPts val="700"/>
              </a:spcBef>
              <a:buChar char="•"/>
            </a:pPr>
            <a:r>
              <a:rPr sz="1500" b="0">
                <a:solidFill>
                  <a:srgbClr val="000000"/>
                </a:solidFill>
              </a:rPr>
              <a:t>Keep the checkpoint with the best </a:t>
            </a:r>
            <a:r>
              <a:rPr sz="1500" b="1">
                <a:solidFill>
                  <a:srgbClr val="000000"/>
                </a:solidFill>
              </a:rPr>
              <a:t>validation PQ</a:t>
            </a:r>
            <a:r>
              <a:rPr sz="1500" b="0">
                <a:solidFill>
                  <a:srgbClr val="000000"/>
                </a:solidFill>
              </a:rPr>
              <a:t>, not the lowest loss</a:t>
            </a:r>
          </a:p>
          <a:p>
            <a:pPr marL="201168" indent="-201168">
              <a:spcBef>
                <a:spcPts val="700"/>
              </a:spcBef>
              <a:buChar char="•"/>
            </a:pPr>
            <a:r>
              <a:rPr sz="1500" b="0">
                <a:solidFill>
                  <a:srgbClr val="000000"/>
                </a:solidFill>
              </a:rPr>
              <a:t>Also SQ, RQ, Dice, splits and merges</a:t>
            </a:r>
          </a:p>
          <a:p>
            <a:pPr marL="201168" indent="-201168">
              <a:spcBef>
                <a:spcPts val="700"/>
              </a:spcBef>
              <a:buChar char="•"/>
            </a:pPr>
            <a:r>
              <a:rPr sz="1500" b="0">
                <a:solidFill>
                  <a:srgbClr val="000000"/>
                </a:solidFill>
              </a:rPr>
              <a:t>Same post-processing for every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Tuning, and What Held Up</a:t>
            </a:r>
          </a:p>
        </p:txBody>
      </p:sp>
      <p:pic>
        <p:nvPicPr>
          <p:cNvPr id="3" name="Picture 2" descr="stage_comparison_slide.png"/>
          <p:cNvPicPr>
            <a:picLocks noChangeAspect="1"/>
          </p:cNvPicPr>
          <p:nvPr/>
        </p:nvPicPr>
        <p:blipFill>
          <a:blip r:embed="rId2"/>
          <a:stretch>
            <a:fillRect/>
          </a:stretch>
        </p:blipFill>
        <p:spPr>
          <a:xfrm>
            <a:off x="749808" y="1417320"/>
            <a:ext cx="6492240" cy="3887728"/>
          </a:xfrm>
          <a:prstGeom prst="rect">
            <a:avLst/>
          </a:prstGeom>
        </p:spPr>
      </p:pic>
      <p:sp>
        <p:nvSpPr>
          <p:cNvPr id="4" name="TextBox 3"/>
          <p:cNvSpPr txBox="1"/>
          <p:nvPr/>
        </p:nvSpPr>
        <p:spPr>
          <a:xfrm>
            <a:off x="7635240" y="1417320"/>
            <a:ext cx="3721608" cy="3520440"/>
          </a:xfrm>
          <a:prstGeom prst="rect">
            <a:avLst/>
          </a:prstGeom>
          <a:noFill/>
        </p:spPr>
        <p:txBody>
          <a:bodyPr wrap="square" anchor="t" lIns="73152" rIns="73152" tIns="73152" bIns="73152">
            <a:spAutoFit/>
          </a:bodyPr>
          <a:lstStyle/>
          <a:p>
            <a:pPr>
              <a:spcBef>
                <a:spcPts val="0"/>
              </a:spcBef>
            </a:pPr>
            <a:r>
              <a:rPr sz="1500" b="1">
                <a:solidFill>
                  <a:srgbClr val="5C5C61"/>
                </a:solidFill>
              </a:rPr>
              <a:t>The whole search was run twice</a:t>
            </a:r>
          </a:p>
          <a:p>
            <a:pPr marL="201168" indent="-201168">
              <a:spcBef>
                <a:spcPts val="600"/>
              </a:spcBef>
              <a:buChar char="•"/>
            </a:pPr>
            <a:r>
              <a:rPr sz="1500" b="0">
                <a:solidFill>
                  <a:srgbClr val="000000"/>
                </a:solidFill>
              </a:rPr>
              <a:t>One setup varies by </a:t>
            </a:r>
            <a:r>
              <a:rPr sz="1500" b="1">
                <a:solidFill>
                  <a:srgbClr val="000000"/>
                </a:solidFill>
              </a:rPr>
              <a:t>±0.007 PQ</a:t>
            </a:r>
            <a:r>
              <a:rPr sz="1500" b="0">
                <a:solidFill>
                  <a:srgbClr val="000000"/>
                </a:solidFill>
              </a:rPr>
              <a:t> between runs</a:t>
            </a:r>
          </a:p>
          <a:p>
            <a:pPr marL="201168" indent="-201168">
              <a:spcBef>
                <a:spcPts val="700"/>
              </a:spcBef>
              <a:buChar char="•"/>
            </a:pPr>
            <a:r>
              <a:rPr sz="1500" b="1">
                <a:solidFill>
                  <a:srgbClr val="000000"/>
                </a:solidFill>
              </a:rPr>
              <a:t>Held up</a:t>
            </a:r>
            <a:r>
              <a:rPr sz="1500" b="0">
                <a:solidFill>
                  <a:srgbClr val="000000"/>
                </a:solidFill>
              </a:rPr>
              <a:t>: 5 outputs +0.031, 768 crops +0.019, pretrained +0.017, 50 epochs +0.021</a:t>
            </a:r>
          </a:p>
          <a:p>
            <a:pPr marL="201168" indent="-201168">
              <a:spcBef>
                <a:spcPts val="700"/>
              </a:spcBef>
              <a:buChar char="•"/>
            </a:pPr>
            <a:r>
              <a:rPr sz="1500" b="1">
                <a:solidFill>
                  <a:srgbClr val="000000"/>
                </a:solidFill>
              </a:rPr>
              <a:t>Didn't</a:t>
            </a:r>
            <a:r>
              <a:rPr sz="1500" b="0">
                <a:solidFill>
                  <a:srgbClr val="000000"/>
                </a:solidFill>
              </a:rPr>
              <a:t>: soft labels (+0.010, then −0.013)</a:t>
            </a:r>
          </a:p>
          <a:p>
            <a:pPr marL="201168" indent="-201168">
              <a:spcBef>
                <a:spcPts val="700"/>
              </a:spcBef>
              <a:buChar char="•"/>
            </a:pPr>
            <a:r>
              <a:rPr sz="1500" b="0">
                <a:solidFill>
                  <a:srgbClr val="000000"/>
                </a:solidFill>
              </a:rPr>
              <a:t>1024 crops, 80 epochs: within the noise at </a:t>
            </a:r>
            <a:r>
              <a:rPr sz="1500" b="1">
                <a:solidFill>
                  <a:srgbClr val="000000"/>
                </a:solidFill>
              </a:rPr>
              <a:t>2.9× the cost</a:t>
            </a:r>
            <a:r>
              <a:rPr sz="1500" b="0">
                <a:solidFill>
                  <a:srgbClr val="000000"/>
                </a:solidFill>
              </a:rPr>
              <a:t>, so we stopped</a:t>
            </a:r>
          </a:p>
        </p:txBody>
      </p:sp>
      <p:sp>
        <p:nvSpPr>
          <p:cNvPr id="5" name="TextBox 4"/>
          <p:cNvSpPr txBox="1"/>
          <p:nvPr/>
        </p:nvSpPr>
        <p:spPr>
          <a:xfrm>
            <a:off x="841248" y="5486400"/>
            <a:ext cx="7223760" cy="1143000"/>
          </a:xfrm>
          <a:prstGeom prst="rect">
            <a:avLst/>
          </a:prstGeom>
          <a:solidFill>
            <a:srgbClr val="005BAA"/>
          </a:solidFill>
        </p:spPr>
        <p:txBody>
          <a:bodyPr wrap="square" anchor="ctr" lIns="137160" rIns="137160" tIns="137160" bIns="137160">
            <a:spAutoFit/>
          </a:bodyPr>
          <a:lstStyle/>
          <a:p>
            <a:pPr>
              <a:spcBef>
                <a:spcPts val="0"/>
              </a:spcBef>
            </a:pPr>
            <a:r>
              <a:rPr sz="1500" b="1">
                <a:solidFill>
                  <a:srgbClr val="FFFFFF"/>
                </a:solidFill>
              </a:rPr>
              <a:t>Final model</a:t>
            </a:r>
            <a:r>
              <a:rPr sz="1500" b="0">
                <a:solidFill>
                  <a:srgbClr val="FFFFFF"/>
                </a:solidFill>
              </a:rPr>
              <a:t>: ResNet-34 U-Net, 768 crops, 50 epochs</a:t>
            </a:r>
          </a:p>
          <a:p>
            <a:pPr>
              <a:spcBef>
                <a:spcPts val="200"/>
              </a:spcBef>
            </a:pPr>
            <a:r>
              <a:rPr sz="1900" b="0">
                <a:solidFill>
                  <a:srgbClr val="FFFFFF"/>
                </a:solidFill>
              </a:rPr>
              <a:t>Validation PQ </a:t>
            </a:r>
            <a:r>
              <a:rPr sz="1900" b="1">
                <a:solidFill>
                  <a:srgbClr val="FFFFFF"/>
                </a:solidFill>
              </a:rPr>
              <a:t>0.377 ± 0.006</a:t>
            </a:r>
            <a:r>
              <a:rPr sz="1900" b="0">
                <a:solidFill>
                  <a:srgbClr val="FFFFFF"/>
                </a:solidFill>
              </a:rPr>
              <a:t> (6 runs)</a:t>
            </a:r>
          </a:p>
          <a:p>
            <a:pPr>
              <a:spcBef>
                <a:spcPts val="200"/>
              </a:spcBef>
            </a:pPr>
            <a:r>
              <a:rPr sz="1300" b="0">
                <a:solidFill>
                  <a:srgbClr val="FFFFFF"/>
                </a:solidFill>
              </a:rPr>
              <a:t>24.4 M parameters  ·  about 1 hour to train  ·  0.40 s per image end to end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Results</a:t>
            </a:r>
            <a:endParaRPr/>
          </a:p>
        </p:txBody>
      </p:sp>
      <p:sp>
        <p:nvSpPr>
          <p:cNvPr id="49" name="Google Shape;4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2400"/>
              <a:buNone/>
            </a:pPr>
            <a:r>
              <a:rPr lang="en-US"/>
              <a:t>How well did your model do? Include your Kaggle leaderboard screenshot.</a:t>
            </a:r>
            <a:endParaRPr/>
          </a:p>
          <a:p>
            <a:pPr indent="-342900" lvl="0" marL="342900" rtl="0" algn="l">
              <a:lnSpc>
                <a:spcPct val="90000"/>
              </a:lnSpc>
              <a:spcBef>
                <a:spcPts val="1000"/>
              </a:spcBef>
              <a:spcAft>
                <a:spcPts val="0"/>
              </a:spcAft>
              <a:buClr>
                <a:schemeClr val="accent2"/>
              </a:buClr>
              <a:buSzPts val="2400"/>
              <a:buFont typeface="Arial"/>
              <a:buChar char="•"/>
            </a:pPr>
            <a:r>
              <a:rPr lang="en-US"/>
              <a:t>Panoptic quality locally and on the Kaggle leaderboard (means and standard deviations over multiple runs where feasible)</a:t>
            </a:r>
            <a:endParaRPr/>
          </a:p>
          <a:p>
            <a:pPr indent="-342900" lvl="0" marL="342900" rtl="0" algn="l">
              <a:lnSpc>
                <a:spcPct val="90000"/>
              </a:lnSpc>
              <a:spcBef>
                <a:spcPts val="1000"/>
              </a:spcBef>
              <a:spcAft>
                <a:spcPts val="0"/>
              </a:spcAft>
              <a:buClr>
                <a:schemeClr val="accent2"/>
              </a:buClr>
              <a:buSzPts val="2400"/>
              <a:buFont typeface="Arial"/>
              <a:buChar char="•"/>
            </a:pPr>
            <a:r>
              <a:rPr lang="en-US"/>
              <a:t>Comparison between approaches</a:t>
            </a:r>
            <a:endParaRPr/>
          </a:p>
          <a:p>
            <a:pPr indent="-342900" lvl="0" marL="342900" rtl="0" algn="l">
              <a:lnSpc>
                <a:spcPct val="90000"/>
              </a:lnSpc>
              <a:spcBef>
                <a:spcPts val="1000"/>
              </a:spcBef>
              <a:spcAft>
                <a:spcPts val="0"/>
              </a:spcAft>
              <a:buClr>
                <a:schemeClr val="accent2"/>
              </a:buClr>
              <a:buSzPts val="2400"/>
              <a:buFont typeface="Arial"/>
              <a:buChar char="•"/>
            </a:pPr>
            <a:r>
              <a:rPr lang="en-US"/>
              <a:t>Kinds of errors: missed filaments or fine-scale structure, noise, fragmentation, merging</a:t>
            </a:r>
            <a:endParaRPr/>
          </a:p>
          <a:p>
            <a:pPr indent="-190500" lvl="0" marL="342900" rtl="0" algn="l">
              <a:lnSpc>
                <a:spcPct val="90000"/>
              </a:lnSpc>
              <a:spcBef>
                <a:spcPts val="1000"/>
              </a:spcBef>
              <a:spcAft>
                <a:spcPts val="0"/>
              </a:spcAft>
              <a:buClr>
                <a:schemeClr val="accent2"/>
              </a:buClr>
              <a:buSzPts val="24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5"/>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Results: Example Predictions</a:t>
            </a:r>
            <a:endParaRPr/>
          </a:p>
        </p:txBody>
      </p:sp>
      <p:sp>
        <p:nvSpPr>
          <p:cNvPr id="55" name="Google Shape;55;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2400"/>
              <a:buNone/>
            </a:pPr>
            <a:r>
              <a:rPr lang="en-US"/>
              <a:t>Show input images next to your predicted filament masks for a sample of test images.</a:t>
            </a:r>
            <a:endParaRPr/>
          </a:p>
          <a:p>
            <a:pPr indent="-342900" lvl="0" marL="342900" rtl="0" algn="l">
              <a:lnSpc>
                <a:spcPct val="90000"/>
              </a:lnSpc>
              <a:spcBef>
                <a:spcPts val="1000"/>
              </a:spcBef>
              <a:spcAft>
                <a:spcPts val="0"/>
              </a:spcAft>
              <a:buClr>
                <a:schemeClr val="accent2"/>
              </a:buClr>
              <a:buSzPts val="2400"/>
              <a:buFont typeface="Arial"/>
              <a:buChar char="•"/>
            </a:pPr>
            <a:r>
              <a:rPr lang="en-US"/>
              <a:t>Do the predictions seem viable?</a:t>
            </a:r>
            <a:endParaRPr/>
          </a:p>
          <a:p>
            <a:pPr indent="-342900" lvl="0" marL="342900" rtl="0" algn="l">
              <a:lnSpc>
                <a:spcPct val="90000"/>
              </a:lnSpc>
              <a:spcBef>
                <a:spcPts val="1000"/>
              </a:spcBef>
              <a:spcAft>
                <a:spcPts val="0"/>
              </a:spcAft>
              <a:buClr>
                <a:schemeClr val="accent2"/>
              </a:buClr>
              <a:buSzPts val="2400"/>
              <a:buFont typeface="Arial"/>
              <a:buChar char="•"/>
            </a:pPr>
            <a:r>
              <a:rPr lang="en-US"/>
              <a:t>Where do they fail, and why?</a:t>
            </a:r>
            <a:endParaRPr/>
          </a:p>
          <a:p>
            <a:pPr indent="-342900" lvl="0" marL="342900" rtl="0" algn="l">
              <a:lnSpc>
                <a:spcPct val="90000"/>
              </a:lnSpc>
              <a:spcBef>
                <a:spcPts val="1000"/>
              </a:spcBef>
              <a:spcAft>
                <a:spcPts val="0"/>
              </a:spcAft>
              <a:buClr>
                <a:schemeClr val="accent2"/>
              </a:buClr>
              <a:buSzPts val="2400"/>
              <a:buFont typeface="Arial"/>
              <a:buChar char="•"/>
            </a:pPr>
            <a:r>
              <a:rPr lang="en-US"/>
              <a:t>Best case VS worst case examples</a:t>
            </a:r>
            <a:endParaRPr/>
          </a:p>
          <a:p>
            <a:pPr indent="-190500" lvl="0" marL="342900" rtl="0" algn="l">
              <a:lnSpc>
                <a:spcPct val="90000"/>
              </a:lnSpc>
              <a:spcBef>
                <a:spcPts val="1000"/>
              </a:spcBef>
              <a:spcAft>
                <a:spcPts val="0"/>
              </a:spcAft>
              <a:buClr>
                <a:schemeClr val="accent2"/>
              </a:buClr>
              <a:buSzPts val="24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Segmentation Enhancement</a:t>
            </a:r>
            <a:endParaRPr/>
          </a:p>
        </p:txBody>
      </p:sp>
      <p:sp>
        <p:nvSpPr>
          <p:cNvPr id="61" name="Google Shape;6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2400"/>
              <a:buNone/>
            </a:pPr>
            <a:r>
              <a:rPr lang="en-US"/>
              <a:t>What did you do beyond a standard segmentation pipeline, and how much did each idea help?</a:t>
            </a:r>
            <a:endParaRPr/>
          </a:p>
          <a:p>
            <a:pPr indent="-342900" lvl="0" marL="342900" rtl="0" algn="l">
              <a:lnSpc>
                <a:spcPct val="90000"/>
              </a:lnSpc>
              <a:spcBef>
                <a:spcPts val="1000"/>
              </a:spcBef>
              <a:spcAft>
                <a:spcPts val="0"/>
              </a:spcAft>
              <a:buClr>
                <a:schemeClr val="accent2"/>
              </a:buClr>
              <a:buSzPts val="2400"/>
              <a:buFont typeface="Arial"/>
              <a:buChar char="•"/>
            </a:pPr>
            <a:r>
              <a:rPr lang="en-US"/>
              <a:t>Your own ideas, e.g. instance separation, keeping filaments intact, capturing fine-scale structure</a:t>
            </a:r>
            <a:endParaRPr/>
          </a:p>
          <a:p>
            <a:pPr indent="-342900" lvl="0" marL="342900" rtl="0" algn="l">
              <a:lnSpc>
                <a:spcPct val="90000"/>
              </a:lnSpc>
              <a:spcBef>
                <a:spcPts val="1000"/>
              </a:spcBef>
              <a:spcAft>
                <a:spcPts val="0"/>
              </a:spcAft>
              <a:buClr>
                <a:schemeClr val="accent2"/>
              </a:buClr>
              <a:buSzPts val="2400"/>
              <a:buFont typeface="Arial"/>
              <a:buChar char="•"/>
            </a:pPr>
            <a:r>
              <a:rPr lang="en-US"/>
              <a:t>Quantify the effect of each idea</a:t>
            </a:r>
            <a:endParaRPr/>
          </a:p>
          <a:p>
            <a:pPr indent="-342900" lvl="0" marL="342900" rtl="0" algn="l">
              <a:lnSpc>
                <a:spcPct val="90000"/>
              </a:lnSpc>
              <a:spcBef>
                <a:spcPts val="1000"/>
              </a:spcBef>
              <a:spcAft>
                <a:spcPts val="0"/>
              </a:spcAft>
              <a:buClr>
                <a:schemeClr val="accent2"/>
              </a:buClr>
              <a:buSzPts val="2400"/>
              <a:buFont typeface="Arial"/>
              <a:buChar char="•"/>
            </a:pPr>
            <a:r>
              <a:rPr lang="en-US"/>
              <a:t>Model size, training time and inference time, compression methods and their effect on quality</a:t>
            </a:r>
            <a:endParaRPr/>
          </a:p>
          <a:p>
            <a:pPr indent="-190500" lvl="0" marL="342900" rtl="0" algn="l">
              <a:lnSpc>
                <a:spcPct val="90000"/>
              </a:lnSpc>
              <a:spcBef>
                <a:spcPts val="1000"/>
              </a:spcBef>
              <a:spcAft>
                <a:spcPts val="0"/>
              </a:spcAft>
              <a:buClr>
                <a:schemeClr val="accent2"/>
              </a:buClr>
              <a:buSzPts val="24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p:nvPr/>
        </p:nvSpPr>
        <p:spPr>
          <a:xfrm>
            <a:off x="6995160" y="-7620"/>
            <a:ext cx="5204460" cy="6874498"/>
          </a:xfrm>
          <a:prstGeom prst="rect">
            <a:avLst/>
          </a:prstGeom>
          <a:blipFill rotWithShape="1">
            <a:blip r:embed="rId3">
              <a:alphaModFix/>
            </a:blip>
            <a:stretch>
              <a:fillRect b="0" l="-48936" r="-48938"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 name="Google Shape;67;p2"/>
          <p:cNvSpPr txBox="1"/>
          <p:nvPr>
            <p:ph type="title"/>
          </p:nvPr>
        </p:nvSpPr>
        <p:spPr>
          <a:xfrm>
            <a:off x="403860" y="365125"/>
            <a:ext cx="635508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Conclusions</a:t>
            </a:r>
            <a:endParaRPr/>
          </a:p>
        </p:txBody>
      </p:sp>
      <p:sp>
        <p:nvSpPr>
          <p:cNvPr id="68" name="Google Shape;68;p2"/>
          <p:cNvSpPr txBox="1"/>
          <p:nvPr>
            <p:ph idx="1" type="body"/>
          </p:nvPr>
        </p:nvSpPr>
        <p:spPr>
          <a:xfrm>
            <a:off x="403860" y="1825625"/>
            <a:ext cx="635508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2400"/>
              <a:buFont typeface="Arial"/>
              <a:buChar char="•"/>
            </a:pPr>
            <a:r>
              <a:rPr lang="en-US"/>
              <a:t>Summarise the main take-aways from your experiments.</a:t>
            </a:r>
            <a:endParaRPr/>
          </a:p>
          <a:p>
            <a:pPr indent="-190500" lvl="0" marL="342900" rtl="0" algn="l">
              <a:lnSpc>
                <a:spcPct val="90000"/>
              </a:lnSpc>
              <a:spcBef>
                <a:spcPts val="0"/>
              </a:spcBef>
              <a:spcAft>
                <a:spcPts val="0"/>
              </a:spcAft>
              <a:buSzPts val="2400"/>
              <a:buFont typeface="Arial"/>
              <a:buNone/>
            </a:pPr>
            <a:r>
              <a:t/>
            </a:r>
            <a:endParaRPr/>
          </a:p>
          <a:p>
            <a:pPr indent="-342900" lvl="0" marL="342900" rtl="0" algn="l">
              <a:lnSpc>
                <a:spcPct val="90000"/>
              </a:lnSpc>
              <a:spcBef>
                <a:spcPts val="0"/>
              </a:spcBef>
              <a:spcAft>
                <a:spcPts val="0"/>
              </a:spcAft>
              <a:buSzPts val="2400"/>
              <a:buFont typeface="Arial"/>
              <a:buChar char="•"/>
            </a:pPr>
            <a:r>
              <a:rPr lang="en-US"/>
              <a:t>Highlight the biggest roadblocks.</a:t>
            </a:r>
            <a:endParaRPr/>
          </a:p>
          <a:p>
            <a:pPr indent="-190500" lvl="0" marL="342900" rtl="0" algn="l">
              <a:lnSpc>
                <a:spcPct val="90000"/>
              </a:lnSpc>
              <a:spcBef>
                <a:spcPts val="0"/>
              </a:spcBef>
              <a:spcAft>
                <a:spcPts val="0"/>
              </a:spcAft>
              <a:buSzPts val="2400"/>
              <a:buFont typeface="Arial"/>
              <a:buNone/>
            </a:pPr>
            <a:r>
              <a:t/>
            </a:r>
            <a:endParaRPr/>
          </a:p>
          <a:p>
            <a:pPr indent="-342900" lvl="0" marL="342900" rtl="0" algn="l">
              <a:lnSpc>
                <a:spcPct val="90000"/>
              </a:lnSpc>
              <a:spcBef>
                <a:spcPts val="0"/>
              </a:spcBef>
              <a:spcAft>
                <a:spcPts val="0"/>
              </a:spcAft>
              <a:buSzPts val="2400"/>
              <a:buFont typeface="Arial"/>
              <a:buChar char="•"/>
            </a:pPr>
            <a:r>
              <a:rPr lang="en-US"/>
              <a:t>Reflect on what you would do differently if you had to do the same task again.</a:t>
            </a:r>
            <a:endParaRPr/>
          </a:p>
        </p:txBody>
      </p:sp>
      <p:pic>
        <p:nvPicPr>
          <p:cNvPr descr="Graphical user interface, text&#10;&#10;Description automatically generated" id="69" name="Google Shape;69;p2"/>
          <p:cNvPicPr preferRelativeResize="0"/>
          <p:nvPr/>
        </p:nvPicPr>
        <p:blipFill rotWithShape="1">
          <a:blip r:embed="rId4">
            <a:alphaModFix/>
          </a:blip>
          <a:srcRect b="0" l="0" r="0" t="0"/>
          <a:stretch/>
        </p:blipFill>
        <p:spPr>
          <a:xfrm>
            <a:off x="8704276" y="5057992"/>
            <a:ext cx="3495344" cy="182204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p:nvPr/>
        </p:nvSpPr>
        <p:spPr>
          <a:xfrm>
            <a:off x="6995160" y="-7620"/>
            <a:ext cx="5204460" cy="6874498"/>
          </a:xfrm>
          <a:prstGeom prst="rect">
            <a:avLst/>
          </a:prstGeom>
          <a:blipFill rotWithShape="1">
            <a:blip r:embed="rId3">
              <a:alphaModFix/>
            </a:blip>
            <a:stretch>
              <a:fillRect b="0" l="-48936" r="-48938"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75" name="Google Shape;75;p17"/>
          <p:cNvSpPr txBox="1"/>
          <p:nvPr>
            <p:ph type="title"/>
          </p:nvPr>
        </p:nvSpPr>
        <p:spPr>
          <a:xfrm>
            <a:off x="403860" y="365125"/>
            <a:ext cx="635508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Arial"/>
              <a:buNone/>
            </a:pPr>
            <a:r>
              <a:rPr lang="en-US"/>
              <a:t>Bibliography</a:t>
            </a:r>
            <a:endParaRPr/>
          </a:p>
        </p:txBody>
      </p:sp>
      <p:sp>
        <p:nvSpPr>
          <p:cNvPr id="76" name="Google Shape;76;p17"/>
          <p:cNvSpPr txBox="1"/>
          <p:nvPr>
            <p:ph idx="1" type="body"/>
          </p:nvPr>
        </p:nvSpPr>
        <p:spPr>
          <a:xfrm>
            <a:off x="403860" y="1825625"/>
            <a:ext cx="635508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2400"/>
              <a:buFont typeface="Arial"/>
              <a:buChar char="•"/>
            </a:pPr>
            <a:r>
              <a:rPr lang="en-US"/>
              <a:t>Paper 1</a:t>
            </a:r>
            <a:endParaRPr/>
          </a:p>
          <a:p>
            <a:pPr indent="-342900" lvl="0" marL="342900" rtl="0" algn="l">
              <a:lnSpc>
                <a:spcPct val="90000"/>
              </a:lnSpc>
              <a:spcBef>
                <a:spcPts val="0"/>
              </a:spcBef>
              <a:spcAft>
                <a:spcPts val="0"/>
              </a:spcAft>
              <a:buSzPts val="2400"/>
              <a:buFont typeface="Arial"/>
              <a:buChar char="•"/>
            </a:pPr>
            <a:r>
              <a:rPr lang="en-US"/>
              <a:t>Paper 2</a:t>
            </a:r>
            <a:endParaRPr/>
          </a:p>
          <a:p>
            <a:pPr indent="-342900" lvl="0" marL="342900" rtl="0" algn="l">
              <a:lnSpc>
                <a:spcPct val="90000"/>
              </a:lnSpc>
              <a:spcBef>
                <a:spcPts val="0"/>
              </a:spcBef>
              <a:spcAft>
                <a:spcPts val="0"/>
              </a:spcAft>
              <a:buSzPts val="2400"/>
              <a:buFont typeface="Arial"/>
              <a:buChar char="•"/>
            </a:pPr>
            <a:r>
              <a:rPr lang="en-US"/>
              <a:t>Website 3</a:t>
            </a:r>
            <a:endParaRPr/>
          </a:p>
        </p:txBody>
      </p:sp>
      <p:pic>
        <p:nvPicPr>
          <p:cNvPr descr="Graphical user interface, text&#10;&#10;Description automatically generated" id="77" name="Google Shape;77;p17"/>
          <p:cNvPicPr preferRelativeResize="0"/>
          <p:nvPr/>
        </p:nvPicPr>
        <p:blipFill rotWithShape="1">
          <a:blip r:embed="rId4">
            <a:alphaModFix/>
          </a:blip>
          <a:srcRect b="0" l="0" r="0" t="0"/>
          <a:stretch/>
        </p:blipFill>
        <p:spPr>
          <a:xfrm>
            <a:off x="8704276" y="5057992"/>
            <a:ext cx="3495344" cy="18220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6">
      <a:dk1>
        <a:srgbClr val="000000"/>
      </a:dk1>
      <a:lt1>
        <a:srgbClr val="FFFFFF"/>
      </a:lt1>
      <a:dk2>
        <a:srgbClr val="005BAA"/>
      </a:dk2>
      <a:lt2>
        <a:srgbClr val="FFFFFF"/>
      </a:lt2>
      <a:accent1>
        <a:srgbClr val="005BAA"/>
      </a:accent1>
      <a:accent2>
        <a:srgbClr val="D71C33"/>
      </a:accent2>
      <a:accent3>
        <a:srgbClr val="C48B3B"/>
      </a:accent3>
      <a:accent4>
        <a:srgbClr val="5C5C61"/>
      </a:accent4>
      <a:accent5>
        <a:srgbClr val="A19C9B"/>
      </a:accent5>
      <a:accent6>
        <a:srgbClr val="D7D2D1"/>
      </a:accent6>
      <a:hlink>
        <a:srgbClr val="005BAA"/>
      </a:hlink>
      <a:folHlink>
        <a:srgbClr val="D71C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2022-03-28T12:27:33Z</dcterms:created>
  <dc:creator>Carissa Botha</dc:creator>
</cp:coreProperties>
</file>